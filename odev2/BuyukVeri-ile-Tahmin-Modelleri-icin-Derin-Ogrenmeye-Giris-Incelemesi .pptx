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Tomorrow"/>
      <p:regular r:id="rId16"/>
      <p:bold r:id="rId17"/>
      <p:italic r:id="rId18"/>
      <p:boldItalic r:id="rId19"/>
    </p:embeddedFont>
    <p:embeddedFont>
      <p:font typeface="Tomorrow SemiBold"/>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TomorrowSemiBold-regular.fntdata"/><Relationship Id="rId11" Type="http://schemas.openxmlformats.org/officeDocument/2006/relationships/slide" Target="slides/slide6.xml"/><Relationship Id="rId22" Type="http://schemas.openxmlformats.org/officeDocument/2006/relationships/font" Target="fonts/TomorrowSemiBold-italic.fntdata"/><Relationship Id="rId10" Type="http://schemas.openxmlformats.org/officeDocument/2006/relationships/slide" Target="slides/slide5.xml"/><Relationship Id="rId21" Type="http://schemas.openxmlformats.org/officeDocument/2006/relationships/font" Target="fonts/TomorrowSemiBold-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TomorrowSemi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Tomorrow-bold.fntdata"/><Relationship Id="rId16" Type="http://schemas.openxmlformats.org/officeDocument/2006/relationships/font" Target="fonts/Tomorrow-regular.fntdata"/><Relationship Id="rId5" Type="http://schemas.openxmlformats.org/officeDocument/2006/relationships/notesMaster" Target="notesMasters/notesMaster1.xml"/><Relationship Id="rId19" Type="http://schemas.openxmlformats.org/officeDocument/2006/relationships/font" Target="fonts/Tomorrow-boldItalic.fntdata"/><Relationship Id="rId6" Type="http://schemas.openxmlformats.org/officeDocument/2006/relationships/slide" Target="slides/slide1.xml"/><Relationship Id="rId18" Type="http://schemas.openxmlformats.org/officeDocument/2006/relationships/font" Target="fonts/Tomorrow-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d27edd1c4f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d27edd1c4f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d27edd1c4f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d27edd1c4f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d27edd1c4f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d27edd1c4f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d27edd1c4f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d27edd1c4f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d27edd1c4f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d27edd1c4f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d27edd1c4f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d27edd1c4f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d27edd1c4f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d27edd1c4f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d27edd1c4f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d27edd1c4f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d27edd1c4f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d27edd1c4f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t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76150" y="182700"/>
            <a:ext cx="8244900" cy="1289700"/>
          </a:xfrm>
          <a:prstGeom prst="rect">
            <a:avLst/>
          </a:prstGeom>
          <a:noFill/>
          <a:ln>
            <a:noFill/>
          </a:ln>
        </p:spPr>
        <p:txBody>
          <a:bodyPr anchorCtr="0" anchor="t" bIns="91425" lIns="91425" spcFirstLastPara="1" rIns="91425" wrap="square" tIns="91425">
            <a:spAutoFit/>
          </a:bodyPr>
          <a:lstStyle/>
          <a:p>
            <a:pPr indent="0" lvl="0" marL="0" rtl="0" algn="l">
              <a:lnSpc>
                <a:spcPct val="124359"/>
              </a:lnSpc>
              <a:spcBef>
                <a:spcPts val="0"/>
              </a:spcBef>
              <a:spcAft>
                <a:spcPts val="0"/>
              </a:spcAft>
              <a:buNone/>
            </a:pPr>
            <a:r>
              <a:rPr b="1" lang="tr" sz="3200">
                <a:solidFill>
                  <a:srgbClr val="EDEDE8"/>
                </a:solidFill>
                <a:latin typeface="Tomorrow SemiBold"/>
                <a:ea typeface="Tomorrow SemiBold"/>
                <a:cs typeface="Tomorrow SemiBold"/>
                <a:sym typeface="Tomorrow SemiBold"/>
              </a:rPr>
              <a:t>Büyük Veri ile Tahmin Modelleri için Derin Öğrenmeye Giriş İncelemesi</a:t>
            </a:r>
            <a:endParaRPr sz="700"/>
          </a:p>
        </p:txBody>
      </p:sp>
      <p:sp>
        <p:nvSpPr>
          <p:cNvPr id="55" name="Google Shape;55;p13"/>
          <p:cNvSpPr txBox="1"/>
          <p:nvPr/>
        </p:nvSpPr>
        <p:spPr>
          <a:xfrm>
            <a:off x="152400" y="1892100"/>
            <a:ext cx="8929800" cy="3117000"/>
          </a:xfrm>
          <a:prstGeom prst="rect">
            <a:avLst/>
          </a:prstGeom>
          <a:noFill/>
          <a:ln>
            <a:noFill/>
          </a:ln>
        </p:spPr>
        <p:txBody>
          <a:bodyPr anchorCtr="0" anchor="t" bIns="91425" lIns="91425" spcFirstLastPara="1" rIns="91425" wrap="square" tIns="91425">
            <a:spAutoFit/>
          </a:bodyPr>
          <a:lstStyle/>
          <a:p>
            <a:pPr indent="0" lvl="0" marL="0" rtl="0" algn="l">
              <a:lnSpc>
                <a:spcPct val="161290"/>
              </a:lnSpc>
              <a:spcBef>
                <a:spcPts val="0"/>
              </a:spcBef>
              <a:spcAft>
                <a:spcPts val="0"/>
              </a:spcAft>
              <a:buNone/>
            </a:pPr>
            <a:r>
              <a:rPr lang="tr" sz="1550">
                <a:solidFill>
                  <a:srgbClr val="C9C9C0"/>
                </a:solidFill>
                <a:latin typeface="Tomorrow"/>
                <a:ea typeface="Tomorrow"/>
                <a:cs typeface="Tomorrow"/>
                <a:sym typeface="Tomorrow"/>
              </a:rPr>
              <a:t>Derin öğrenme modelleri, yapay zeka (YZ) ve makine öğrenmesinde yeni bir öğrenme paradigmasını temsil etmektedir. Görüntü analizi ve konuşma tanımadaki son çığır açan sonuçlar, bu alana büyük ilgi uyandırmıştır; zira büyük veri sağlayan pek çok başka alanda da uygulamalar mümkün görünmektedir. Bu makalede; Derin İleri Beslemeli Sinir Ağları (D-FFNN), Evrişimli Sinir Ağları (CNN), Derin İnanç Ağları (DBN), Otokodlayıcılar (AE) ve Uzun Kısa Süreli Bellek (LSTM) ağları dahil olmak üzere derin öğrenme yaklaşımlarına giriş niteliğinde bir inceleme sunulmaktadır. Bu modeller, derin öğrenme modellerinin temel çekirdek mimarilerini oluşturmakta ve her veri bilimcinin araç kutusunda yer almalıdır.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170325" y="1949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24637"/>
              </a:lnSpc>
              <a:spcBef>
                <a:spcPts val="0"/>
              </a:spcBef>
              <a:spcAft>
                <a:spcPts val="0"/>
              </a:spcAft>
              <a:buClr>
                <a:srgbClr val="EDEDE8"/>
              </a:buClr>
              <a:buSzPct val="100000"/>
              <a:buFont typeface="Tomorrow SemiBold"/>
              <a:buNone/>
            </a:pPr>
            <a:r>
              <a:rPr b="1" lang="tr" sz="3450">
                <a:solidFill>
                  <a:srgbClr val="EDEDE8"/>
                </a:solidFill>
                <a:latin typeface="Tomorrow SemiBold"/>
                <a:ea typeface="Tomorrow SemiBold"/>
                <a:cs typeface="Tomorrow SemiBold"/>
                <a:sym typeface="Tomorrow SemiBold"/>
              </a:rPr>
              <a:t>1. Giriş</a:t>
            </a:r>
            <a:endParaRPr/>
          </a:p>
        </p:txBody>
      </p:sp>
      <p:sp>
        <p:nvSpPr>
          <p:cNvPr id="61" name="Google Shape;61;p14"/>
          <p:cNvSpPr txBox="1"/>
          <p:nvPr>
            <p:ph idx="1" type="body"/>
          </p:nvPr>
        </p:nvSpPr>
        <p:spPr>
          <a:xfrm>
            <a:off x="311700" y="852425"/>
            <a:ext cx="8520600" cy="1048800"/>
          </a:xfrm>
          <a:prstGeom prst="rect">
            <a:avLst/>
          </a:prstGeom>
        </p:spPr>
        <p:txBody>
          <a:bodyPr anchorCtr="0" anchor="t" bIns="91425" lIns="91425" spcFirstLastPara="1" rIns="91425" wrap="square" tIns="91425">
            <a:normAutofit fontScale="70000"/>
          </a:bodyPr>
          <a:lstStyle/>
          <a:p>
            <a:pPr indent="0" lvl="0" marL="0" rtl="0" algn="l">
              <a:lnSpc>
                <a:spcPct val="151851"/>
              </a:lnSpc>
              <a:spcBef>
                <a:spcPts val="0"/>
              </a:spcBef>
              <a:spcAft>
                <a:spcPts val="0"/>
              </a:spcAft>
              <a:buClr>
                <a:srgbClr val="C9C9C0"/>
              </a:buClr>
              <a:buSzPct val="100000"/>
              <a:buFont typeface="Tomorrow"/>
              <a:buNone/>
            </a:pPr>
            <a:r>
              <a:rPr lang="tr" sz="1350">
                <a:solidFill>
                  <a:srgbClr val="C9C9C0"/>
                </a:solidFill>
                <a:latin typeface="Tomorrow"/>
                <a:ea typeface="Tomorrow"/>
                <a:cs typeface="Tomorrow"/>
                <a:sym typeface="Tomorrow"/>
              </a:rPr>
              <a:t>Büyük veri çağında yaşıyoruz; bilim ve sanayinin tüm alanları muazzam miktarda veri üretmektedir. Bu durum, analiz ve yorumlama konusunda benzeri görülmemiş zorluklarla karşı karşıya kalmamıza yol açmaktadır. Bu nedenle, söz konusu verilerin kullanılmasına yardımcı olabilecek yeni makine öğrenmesi ve yapay zeka yöntemlerine acil ihtiyaç duyulmaktadır. Derin öğrenme (DL), şu anda büyük ilgi gören böyle bir yeni metodoloji olup tek bir yöntem değil, karmaşık tahmin modelleri öğrenmek için kullanılabilecek bir öğrenme algoritmaları ailesini tanımlamaktadır.</a:t>
            </a:r>
            <a:endParaRPr/>
          </a:p>
        </p:txBody>
      </p:sp>
      <p:sp>
        <p:nvSpPr>
          <p:cNvPr id="62" name="Google Shape;62;p14"/>
          <p:cNvSpPr txBox="1"/>
          <p:nvPr/>
        </p:nvSpPr>
        <p:spPr>
          <a:xfrm>
            <a:off x="97850" y="201060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26470"/>
              </a:lnSpc>
              <a:spcBef>
                <a:spcPts val="0"/>
              </a:spcBef>
              <a:spcAft>
                <a:spcPts val="0"/>
              </a:spcAft>
              <a:buNone/>
            </a:pPr>
            <a:r>
              <a:rPr b="1" lang="tr">
                <a:solidFill>
                  <a:srgbClr val="C9C9C0"/>
                </a:solidFill>
                <a:latin typeface="Tomorrow SemiBold"/>
                <a:ea typeface="Tomorrow SemiBold"/>
                <a:cs typeface="Tomorrow SemiBold"/>
                <a:sym typeface="Tomorrow SemiBold"/>
              </a:rPr>
              <a:t>Temel Uygulama Alanları</a:t>
            </a:r>
            <a:endParaRPr sz="1100"/>
          </a:p>
        </p:txBody>
      </p:sp>
      <p:sp>
        <p:nvSpPr>
          <p:cNvPr id="63" name="Google Shape;63;p14"/>
          <p:cNvSpPr txBox="1"/>
          <p:nvPr/>
        </p:nvSpPr>
        <p:spPr>
          <a:xfrm>
            <a:off x="170325" y="2345250"/>
            <a:ext cx="3000000" cy="2800500"/>
          </a:xfrm>
          <a:prstGeom prst="rect">
            <a:avLst/>
          </a:prstGeom>
          <a:noFill/>
          <a:ln>
            <a:noFill/>
          </a:ln>
        </p:spPr>
        <p:txBody>
          <a:bodyPr anchorCtr="0" anchor="t" bIns="91425" lIns="91425" spcFirstLastPara="1" rIns="91425" wrap="square" tIns="91425">
            <a:spAutoFit/>
          </a:bodyPr>
          <a:lstStyle/>
          <a:p>
            <a:pPr indent="-323850" lvl="0" marL="342900" rtl="0" algn="l">
              <a:lnSpc>
                <a:spcPct val="151851"/>
              </a:lnSpc>
              <a:spcBef>
                <a:spcPts val="0"/>
              </a:spcBef>
              <a:spcAft>
                <a:spcPts val="0"/>
              </a:spcAft>
              <a:buClr>
                <a:srgbClr val="C9C9C0"/>
              </a:buClr>
              <a:buSzPts val="1050"/>
              <a:buFont typeface="Tomorrow"/>
              <a:buChar char="•"/>
            </a:pPr>
            <a:r>
              <a:rPr lang="tr" sz="1050">
                <a:solidFill>
                  <a:srgbClr val="C9C9C0"/>
                </a:solidFill>
                <a:latin typeface="Tomorrow"/>
                <a:ea typeface="Tomorrow"/>
                <a:cs typeface="Tomorrow"/>
                <a:sym typeface="Tomorrow"/>
              </a:rPr>
              <a:t>El yazısı rakam sınıflandırması — MNIST veri setinde %0,21 hata oranı (Wan et al., 2013)</a:t>
            </a:r>
            <a:endParaRPr sz="1050"/>
          </a:p>
          <a:p>
            <a:pPr indent="-323850" lvl="0" marL="342900" rtl="0" algn="l">
              <a:lnSpc>
                <a:spcPct val="151851"/>
              </a:lnSpc>
              <a:spcBef>
                <a:spcPts val="0"/>
              </a:spcBef>
              <a:spcAft>
                <a:spcPts val="0"/>
              </a:spcAft>
              <a:buClr>
                <a:srgbClr val="C9C9C0"/>
              </a:buClr>
              <a:buSzPts val="1050"/>
              <a:buFont typeface="Tomorrow"/>
              <a:buChar char="•"/>
            </a:pPr>
            <a:r>
              <a:rPr lang="tr" sz="1050">
                <a:solidFill>
                  <a:srgbClr val="C9C9C0"/>
                </a:solidFill>
                <a:latin typeface="Tomorrow"/>
                <a:ea typeface="Tomorrow"/>
                <a:cs typeface="Tomorrow"/>
                <a:sym typeface="Tomorrow"/>
              </a:rPr>
              <a:t>Görüntü tanıma (Krizhevsky et al., 2012a; LeCun et al., 2015)</a:t>
            </a:r>
            <a:endParaRPr sz="1050"/>
          </a:p>
          <a:p>
            <a:pPr indent="-323850" lvl="0" marL="342900" rtl="0" algn="l">
              <a:lnSpc>
                <a:spcPct val="151851"/>
              </a:lnSpc>
              <a:spcBef>
                <a:spcPts val="0"/>
              </a:spcBef>
              <a:spcAft>
                <a:spcPts val="0"/>
              </a:spcAft>
              <a:buClr>
                <a:srgbClr val="C9C9C0"/>
              </a:buClr>
              <a:buSzPts val="1050"/>
              <a:buFont typeface="Tomorrow"/>
              <a:buChar char="•"/>
            </a:pPr>
            <a:r>
              <a:rPr lang="tr" sz="1050">
                <a:solidFill>
                  <a:srgbClr val="C9C9C0"/>
                </a:solidFill>
                <a:latin typeface="Tomorrow"/>
                <a:ea typeface="Tomorrow"/>
                <a:cs typeface="Tomorrow"/>
                <a:sym typeface="Tomorrow"/>
              </a:rPr>
              <a:t>Konuşma tanıma (Graves et al., 2013)</a:t>
            </a:r>
            <a:endParaRPr sz="1050"/>
          </a:p>
          <a:p>
            <a:pPr indent="-323850" lvl="0" marL="342900" rtl="0" algn="l">
              <a:lnSpc>
                <a:spcPct val="151851"/>
              </a:lnSpc>
              <a:spcBef>
                <a:spcPts val="0"/>
              </a:spcBef>
              <a:spcAft>
                <a:spcPts val="0"/>
              </a:spcAft>
              <a:buClr>
                <a:srgbClr val="C9C9C0"/>
              </a:buClr>
              <a:buSzPts val="1050"/>
              <a:buFont typeface="Tomorrow"/>
              <a:buChar char="•"/>
            </a:pPr>
            <a:r>
              <a:rPr lang="tr" sz="1050">
                <a:solidFill>
                  <a:srgbClr val="C9C9C0"/>
                </a:solidFill>
                <a:latin typeface="Tomorrow"/>
                <a:ea typeface="Tomorrow"/>
                <a:cs typeface="Tomorrow"/>
                <a:sym typeface="Tomorrow"/>
              </a:rPr>
              <a:t>Doğal dil anlama (Sarikaya et al., 2014)</a:t>
            </a:r>
            <a:endParaRPr sz="1050"/>
          </a:p>
          <a:p>
            <a:pPr indent="-323850" lvl="0" marL="342900" rtl="0" algn="l">
              <a:lnSpc>
                <a:spcPct val="151851"/>
              </a:lnSpc>
              <a:spcBef>
                <a:spcPts val="0"/>
              </a:spcBef>
              <a:spcAft>
                <a:spcPts val="0"/>
              </a:spcAft>
              <a:buClr>
                <a:srgbClr val="C9C9C0"/>
              </a:buClr>
              <a:buSzPts val="1050"/>
              <a:buFont typeface="Tomorrow"/>
              <a:buChar char="•"/>
            </a:pPr>
            <a:r>
              <a:rPr lang="tr" sz="1050">
                <a:solidFill>
                  <a:srgbClr val="C9C9C0"/>
                </a:solidFill>
                <a:latin typeface="Tomorrow"/>
                <a:ea typeface="Tomorrow"/>
                <a:cs typeface="Tomorrow"/>
                <a:sym typeface="Tomorrow"/>
              </a:rPr>
              <a:t>Akustik modelleme (Mohamed et al., 2011)</a:t>
            </a:r>
            <a:endParaRPr sz="1050"/>
          </a:p>
          <a:p>
            <a:pPr indent="-323850" lvl="0" marL="342900" rtl="0" algn="l">
              <a:lnSpc>
                <a:spcPct val="151851"/>
              </a:lnSpc>
              <a:spcBef>
                <a:spcPts val="0"/>
              </a:spcBef>
              <a:spcAft>
                <a:spcPts val="0"/>
              </a:spcAft>
              <a:buClr>
                <a:srgbClr val="C9C9C0"/>
              </a:buClr>
              <a:buSzPts val="1050"/>
              <a:buFont typeface="Tomorrow"/>
              <a:buChar char="•"/>
            </a:pPr>
            <a:r>
              <a:rPr lang="tr" sz="1050">
                <a:solidFill>
                  <a:srgbClr val="C9C9C0"/>
                </a:solidFill>
                <a:latin typeface="Tomorrow"/>
                <a:ea typeface="Tomorrow"/>
                <a:cs typeface="Tomorrow"/>
                <a:sym typeface="Tomorrow"/>
              </a:rPr>
              <a:t>Hesaplamalı biyoloji (Leung et al., 2014; Alipanahi et al., 2015)</a:t>
            </a:r>
            <a:endParaRPr sz="1100"/>
          </a:p>
        </p:txBody>
      </p:sp>
      <p:sp>
        <p:nvSpPr>
          <p:cNvPr id="64" name="Google Shape;64;p14"/>
          <p:cNvSpPr txBox="1"/>
          <p:nvPr/>
        </p:nvSpPr>
        <p:spPr>
          <a:xfrm>
            <a:off x="3266550" y="1901225"/>
            <a:ext cx="2610900" cy="30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2"/>
              </a:solidFill>
            </a:endParaRPr>
          </a:p>
        </p:txBody>
      </p:sp>
      <p:sp>
        <p:nvSpPr>
          <p:cNvPr id="65" name="Google Shape;65;p14"/>
          <p:cNvSpPr txBox="1"/>
          <p:nvPr/>
        </p:nvSpPr>
        <p:spPr>
          <a:xfrm>
            <a:off x="3418950" y="2053625"/>
            <a:ext cx="2610900" cy="3099600"/>
          </a:xfrm>
          <a:prstGeom prst="rect">
            <a:avLst/>
          </a:prstGeom>
          <a:noFill/>
          <a:ln>
            <a:noFill/>
          </a:ln>
        </p:spPr>
        <p:txBody>
          <a:bodyPr anchorCtr="0" anchor="t" bIns="91425" lIns="91425" spcFirstLastPara="1" rIns="91425" wrap="square" tIns="91425">
            <a:noAutofit/>
          </a:bodyPr>
          <a:lstStyle/>
          <a:p>
            <a:pPr indent="0" lvl="0" marL="0" rtl="0" algn="l">
              <a:lnSpc>
                <a:spcPct val="126470"/>
              </a:lnSpc>
              <a:spcBef>
                <a:spcPts val="0"/>
              </a:spcBef>
              <a:spcAft>
                <a:spcPts val="0"/>
              </a:spcAft>
              <a:buNone/>
            </a:pPr>
            <a:r>
              <a:rPr b="1" lang="tr">
                <a:solidFill>
                  <a:srgbClr val="C9C9C0"/>
                </a:solidFill>
                <a:latin typeface="Tomorrow SemiBold"/>
                <a:ea typeface="Tomorrow SemiBold"/>
                <a:cs typeface="Tomorrow SemiBold"/>
                <a:sym typeface="Tomorrow SemiBold"/>
              </a:rPr>
              <a:t>İncelenen Temel Mimariler</a:t>
            </a:r>
            <a:endParaRPr b="1">
              <a:solidFill>
                <a:srgbClr val="C9C9C0"/>
              </a:solidFill>
              <a:latin typeface="Tomorrow SemiBold"/>
              <a:ea typeface="Tomorrow SemiBold"/>
              <a:cs typeface="Tomorrow SemiBold"/>
              <a:sym typeface="Tomorrow SemiBold"/>
            </a:endParaRPr>
          </a:p>
          <a:p>
            <a:pPr indent="-323850" lvl="0" marL="342900" rtl="0" algn="l">
              <a:lnSpc>
                <a:spcPct val="151851"/>
              </a:lnSpc>
              <a:spcBef>
                <a:spcPts val="0"/>
              </a:spcBef>
              <a:spcAft>
                <a:spcPts val="0"/>
              </a:spcAft>
              <a:buClr>
                <a:srgbClr val="C9C9C0"/>
              </a:buClr>
              <a:buSzPts val="1050"/>
              <a:buFont typeface="Tomorrow"/>
              <a:buChar char="•"/>
            </a:pPr>
            <a:r>
              <a:rPr lang="tr" sz="1050">
                <a:solidFill>
                  <a:srgbClr val="C9C9C0"/>
                </a:solidFill>
                <a:latin typeface="Tomorrow"/>
                <a:ea typeface="Tomorrow"/>
                <a:cs typeface="Tomorrow"/>
                <a:sym typeface="Tomorrow"/>
              </a:rPr>
              <a:t>Derin İleri Beslemeli Sinir Ağları (D-FFNN)</a:t>
            </a:r>
            <a:endParaRPr sz="1050"/>
          </a:p>
          <a:p>
            <a:pPr indent="-323850" lvl="0" marL="342900" rtl="0" algn="l">
              <a:lnSpc>
                <a:spcPct val="151851"/>
              </a:lnSpc>
              <a:spcBef>
                <a:spcPts val="0"/>
              </a:spcBef>
              <a:spcAft>
                <a:spcPts val="0"/>
              </a:spcAft>
              <a:buClr>
                <a:srgbClr val="C9C9C0"/>
              </a:buClr>
              <a:buSzPts val="1050"/>
              <a:buFont typeface="Tomorrow"/>
              <a:buChar char="•"/>
            </a:pPr>
            <a:r>
              <a:rPr lang="tr" sz="1050">
                <a:solidFill>
                  <a:srgbClr val="C9C9C0"/>
                </a:solidFill>
                <a:latin typeface="Tomorrow"/>
                <a:ea typeface="Tomorrow"/>
                <a:cs typeface="Tomorrow"/>
                <a:sym typeface="Tomorrow"/>
              </a:rPr>
              <a:t>Evrişimli Sinir Ağları (CNN)</a:t>
            </a:r>
            <a:endParaRPr sz="1050"/>
          </a:p>
          <a:p>
            <a:pPr indent="-323850" lvl="0" marL="342900" rtl="0" algn="l">
              <a:lnSpc>
                <a:spcPct val="151851"/>
              </a:lnSpc>
              <a:spcBef>
                <a:spcPts val="0"/>
              </a:spcBef>
              <a:spcAft>
                <a:spcPts val="0"/>
              </a:spcAft>
              <a:buClr>
                <a:srgbClr val="C9C9C0"/>
              </a:buClr>
              <a:buSzPts val="1050"/>
              <a:buFont typeface="Tomorrow"/>
              <a:buChar char="•"/>
            </a:pPr>
            <a:r>
              <a:rPr lang="tr" sz="1050">
                <a:solidFill>
                  <a:srgbClr val="C9C9C0"/>
                </a:solidFill>
                <a:latin typeface="Tomorrow"/>
                <a:ea typeface="Tomorrow"/>
                <a:cs typeface="Tomorrow"/>
                <a:sym typeface="Tomorrow"/>
              </a:rPr>
              <a:t>Derin İnanç Ağları (DBN)</a:t>
            </a:r>
            <a:endParaRPr sz="1050"/>
          </a:p>
          <a:p>
            <a:pPr indent="-323850" lvl="0" marL="342900" rtl="0" algn="l">
              <a:lnSpc>
                <a:spcPct val="151851"/>
              </a:lnSpc>
              <a:spcBef>
                <a:spcPts val="0"/>
              </a:spcBef>
              <a:spcAft>
                <a:spcPts val="0"/>
              </a:spcAft>
              <a:buClr>
                <a:srgbClr val="C9C9C0"/>
              </a:buClr>
              <a:buSzPts val="1050"/>
              <a:buFont typeface="Tomorrow"/>
              <a:buChar char="•"/>
            </a:pPr>
            <a:r>
              <a:rPr lang="tr" sz="1050">
                <a:solidFill>
                  <a:srgbClr val="C9C9C0"/>
                </a:solidFill>
                <a:latin typeface="Tomorrow"/>
                <a:ea typeface="Tomorrow"/>
                <a:cs typeface="Tomorrow"/>
                <a:sym typeface="Tomorrow"/>
              </a:rPr>
              <a:t>Otokodlayıcılar (AE)</a:t>
            </a:r>
            <a:endParaRPr sz="1050"/>
          </a:p>
          <a:p>
            <a:pPr indent="-323850" lvl="0" marL="342900" rtl="0" algn="l">
              <a:lnSpc>
                <a:spcPct val="151851"/>
              </a:lnSpc>
              <a:spcBef>
                <a:spcPts val="0"/>
              </a:spcBef>
              <a:spcAft>
                <a:spcPts val="0"/>
              </a:spcAft>
              <a:buClr>
                <a:srgbClr val="C9C9C0"/>
              </a:buClr>
              <a:buSzPts val="1050"/>
              <a:buFont typeface="Tomorrow"/>
              <a:buChar char="•"/>
            </a:pPr>
            <a:r>
              <a:rPr lang="tr" sz="1050">
                <a:solidFill>
                  <a:srgbClr val="C9C9C0"/>
                </a:solidFill>
                <a:latin typeface="Tomorrow"/>
                <a:ea typeface="Tomorrow"/>
                <a:cs typeface="Tomorrow"/>
                <a:sym typeface="Tomorrow"/>
              </a:rPr>
              <a:t>Uzun Kısa Süreli Bellek (LSTM) ağları</a:t>
            </a:r>
            <a:endParaRPr sz="1050"/>
          </a:p>
          <a:p>
            <a:pPr indent="0" lvl="0" marL="0" rtl="0" algn="l">
              <a:lnSpc>
                <a:spcPct val="126470"/>
              </a:lnSpc>
              <a:spcBef>
                <a:spcPts val="0"/>
              </a:spcBef>
              <a:spcAft>
                <a:spcPts val="0"/>
              </a:spcAft>
              <a:buClr>
                <a:srgbClr val="C9C9C0"/>
              </a:buClr>
              <a:buSzPts val="1700"/>
              <a:buFont typeface="Tomorrow SemiBold"/>
              <a:buNone/>
            </a:pPr>
            <a:r>
              <a:t/>
            </a:r>
            <a:endParaRPr b="1">
              <a:solidFill>
                <a:srgbClr val="C9C9C0"/>
              </a:solidFill>
              <a:latin typeface="Tomorrow SemiBold"/>
              <a:ea typeface="Tomorrow SemiBold"/>
              <a:cs typeface="Tomorrow SemiBold"/>
              <a:sym typeface="Tomorrow SemiBold"/>
            </a:endParaRPr>
          </a:p>
        </p:txBody>
      </p:sp>
      <p:sp>
        <p:nvSpPr>
          <p:cNvPr id="66" name="Google Shape;66;p14"/>
          <p:cNvSpPr txBox="1"/>
          <p:nvPr/>
        </p:nvSpPr>
        <p:spPr>
          <a:xfrm>
            <a:off x="6278475" y="1986025"/>
            <a:ext cx="2856300" cy="3099600"/>
          </a:xfrm>
          <a:prstGeom prst="rect">
            <a:avLst/>
          </a:prstGeom>
          <a:noFill/>
          <a:ln>
            <a:noFill/>
          </a:ln>
        </p:spPr>
        <p:txBody>
          <a:bodyPr anchorCtr="0" anchor="t" bIns="91425" lIns="91425" spcFirstLastPara="1" rIns="91425" wrap="square" tIns="91425">
            <a:noAutofit/>
          </a:bodyPr>
          <a:lstStyle/>
          <a:p>
            <a:pPr indent="0" lvl="0" marL="0" rtl="0" algn="l">
              <a:lnSpc>
                <a:spcPct val="126470"/>
              </a:lnSpc>
              <a:spcBef>
                <a:spcPts val="0"/>
              </a:spcBef>
              <a:spcAft>
                <a:spcPts val="0"/>
              </a:spcAft>
              <a:buNone/>
            </a:pPr>
            <a:r>
              <a:rPr b="1" lang="tr">
                <a:solidFill>
                  <a:srgbClr val="C9C9C0"/>
                </a:solidFill>
                <a:latin typeface="Tomorrow SemiBold"/>
                <a:ea typeface="Tomorrow SemiBold"/>
                <a:cs typeface="Tomorrow SemiBold"/>
                <a:sym typeface="Tomorrow SemiBold"/>
              </a:rPr>
              <a:t>İncelemenin Kapsamı</a:t>
            </a:r>
            <a:endParaRPr b="1">
              <a:solidFill>
                <a:srgbClr val="C9C9C0"/>
              </a:solidFill>
              <a:latin typeface="Tomorrow SemiBold"/>
              <a:ea typeface="Tomorrow SemiBold"/>
              <a:cs typeface="Tomorrow SemiBold"/>
              <a:sym typeface="Tomorrow SemiBold"/>
            </a:endParaRPr>
          </a:p>
          <a:p>
            <a:pPr indent="0" lvl="0" marL="0" rtl="0" algn="l">
              <a:lnSpc>
                <a:spcPct val="126470"/>
              </a:lnSpc>
              <a:spcBef>
                <a:spcPts val="0"/>
              </a:spcBef>
              <a:spcAft>
                <a:spcPts val="0"/>
              </a:spcAft>
              <a:buNone/>
            </a:pPr>
            <a:r>
              <a:t/>
            </a:r>
            <a:endParaRPr b="1">
              <a:solidFill>
                <a:srgbClr val="C9C9C0"/>
              </a:solidFill>
              <a:latin typeface="Tomorrow SemiBold"/>
              <a:ea typeface="Tomorrow SemiBold"/>
              <a:cs typeface="Tomorrow SemiBold"/>
              <a:sym typeface="Tomorrow SemiBold"/>
            </a:endParaRPr>
          </a:p>
          <a:p>
            <a:pPr indent="0" lvl="0" marL="0" rtl="0" algn="l">
              <a:lnSpc>
                <a:spcPct val="151851"/>
              </a:lnSpc>
              <a:spcBef>
                <a:spcPts val="0"/>
              </a:spcBef>
              <a:spcAft>
                <a:spcPts val="0"/>
              </a:spcAft>
              <a:buClr>
                <a:srgbClr val="C9C9C0"/>
              </a:buClr>
              <a:buSzPts val="1350"/>
              <a:buFont typeface="Tomorrow"/>
              <a:buNone/>
            </a:pPr>
            <a:r>
              <a:rPr lang="tr" sz="1050">
                <a:solidFill>
                  <a:srgbClr val="C9C9C0"/>
                </a:solidFill>
                <a:latin typeface="Tomorrow"/>
                <a:ea typeface="Tomorrow"/>
                <a:cs typeface="Tomorrow"/>
                <a:sym typeface="Tomorrow"/>
              </a:rPr>
              <a:t>Bu inceleme, derin öğrenmeye yeni başlayanların alana girmesini kolaylaştırmak amacıyla genellikle atlanan teknik ayrıntıları da içeren orta düzey bir sunum yapmayı hedeflemektedir. Yapay sinir ağlarının tarihsel gelişimi, temel mimariler ve öğrenme sürecindeki önemli konular ele alınmaktadır.</a:t>
            </a:r>
            <a:endParaRPr sz="1050"/>
          </a:p>
          <a:p>
            <a:pPr indent="0" lvl="0" marL="0" rtl="0" algn="l">
              <a:lnSpc>
                <a:spcPct val="126470"/>
              </a:lnSpc>
              <a:spcBef>
                <a:spcPts val="0"/>
              </a:spcBef>
              <a:spcAft>
                <a:spcPts val="0"/>
              </a:spcAft>
              <a:buNone/>
            </a:pPr>
            <a:r>
              <a:t/>
            </a:r>
            <a:endParaRPr b="1">
              <a:solidFill>
                <a:srgbClr val="C9C9C0"/>
              </a:solidFill>
              <a:latin typeface="Tomorrow SemiBold"/>
              <a:ea typeface="Tomorrow SemiBold"/>
              <a:cs typeface="Tomorrow SemiBold"/>
              <a:sym typeface="Tomorrow SemiBo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p:nvPr/>
        </p:nvSpPr>
        <p:spPr>
          <a:xfrm>
            <a:off x="157075" y="0"/>
            <a:ext cx="8736900" cy="3672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EDEDE8"/>
              </a:buClr>
              <a:buSzPts val="1950"/>
              <a:buFont typeface="Tomorrow SemiBold"/>
              <a:buNone/>
            </a:pPr>
            <a:r>
              <a:rPr b="1" i="0" lang="tr" sz="1950" u="none" cap="none" strike="noStrike">
                <a:solidFill>
                  <a:srgbClr val="EDEDE8"/>
                </a:solidFill>
                <a:latin typeface="Tomorrow SemiBold"/>
                <a:ea typeface="Tomorrow SemiBold"/>
                <a:cs typeface="Tomorrow SemiBold"/>
                <a:sym typeface="Tomorrow SemiBold"/>
              </a:rPr>
              <a:t>2. Sinir Ağlarının Temel Gelişmeleri: Bir Zaman Çizelgesi</a:t>
            </a:r>
            <a:endParaRPr b="0" i="0" sz="1950" u="none" cap="none" strike="noStrike"/>
          </a:p>
        </p:txBody>
      </p:sp>
      <p:sp>
        <p:nvSpPr>
          <p:cNvPr id="72" name="Google Shape;72;p15"/>
          <p:cNvSpPr/>
          <p:nvPr/>
        </p:nvSpPr>
        <p:spPr>
          <a:xfrm>
            <a:off x="243300" y="321106"/>
            <a:ext cx="7825500" cy="122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C9C0"/>
              </a:buClr>
              <a:buSzPts val="750"/>
              <a:buFont typeface="Tomorrow"/>
              <a:buNone/>
            </a:pPr>
            <a:r>
              <a:rPr b="0" i="0" lang="tr" sz="750" u="none" cap="none" strike="noStrike">
                <a:solidFill>
                  <a:srgbClr val="C9C9C0"/>
                </a:solidFill>
                <a:latin typeface="Tomorrow"/>
                <a:ea typeface="Tomorrow"/>
                <a:cs typeface="Tomorrow"/>
                <a:sym typeface="Tomorrow"/>
              </a:rPr>
              <a:t>Sinir ağlarının tarihi uzundur ve pek çok kişi on yıllar boyunca bu gelişime katkıda bulunmuştur. Aşağıda yalnızca en seçkin katkılar vurgulanmıştır.</a:t>
            </a:r>
            <a:endParaRPr b="0" i="0" sz="750" u="none" cap="none" strike="noStrike"/>
          </a:p>
        </p:txBody>
      </p:sp>
      <p:sp>
        <p:nvSpPr>
          <p:cNvPr id="73" name="Google Shape;73;p15"/>
          <p:cNvSpPr/>
          <p:nvPr/>
        </p:nvSpPr>
        <p:spPr>
          <a:xfrm>
            <a:off x="3953754" y="513075"/>
            <a:ext cx="14400" cy="3394800"/>
          </a:xfrm>
          <a:prstGeom prst="roundRect">
            <a:avLst>
              <a:gd fmla="val 97675" name="adj"/>
            </a:avLst>
          </a:prstGeom>
          <a:solidFill>
            <a:srgbClr val="555553"/>
          </a:solidFill>
          <a:ln>
            <a:noFill/>
          </a:ln>
        </p:spPr>
        <p:txBody>
          <a:bodyPr anchorCtr="0" anchor="ctr" bIns="86875" lIns="86875" spcFirstLastPara="1" rIns="86875" wrap="square" tIns="86875">
            <a:noAutofit/>
          </a:bodyPr>
          <a:lstStyle/>
          <a:p>
            <a:pPr indent="0" lvl="0" marL="0" rtl="0" algn="l">
              <a:spcBef>
                <a:spcPts val="0"/>
              </a:spcBef>
              <a:spcAft>
                <a:spcPts val="0"/>
              </a:spcAft>
              <a:buNone/>
            </a:pPr>
            <a:r>
              <a:t/>
            </a:r>
            <a:endParaRPr/>
          </a:p>
        </p:txBody>
      </p:sp>
      <p:sp>
        <p:nvSpPr>
          <p:cNvPr id="74" name="Google Shape;74;p15"/>
          <p:cNvSpPr/>
          <p:nvPr/>
        </p:nvSpPr>
        <p:spPr>
          <a:xfrm>
            <a:off x="3787006" y="599037"/>
            <a:ext cx="188400" cy="12900"/>
          </a:xfrm>
          <a:prstGeom prst="roundRect">
            <a:avLst>
              <a:gd fmla="val 97675" name="adj"/>
            </a:avLst>
          </a:prstGeom>
          <a:solidFill>
            <a:srgbClr val="555553"/>
          </a:solidFill>
          <a:ln>
            <a:noFill/>
          </a:ln>
        </p:spPr>
        <p:txBody>
          <a:bodyPr anchorCtr="0" anchor="ctr" bIns="86875" lIns="86875" spcFirstLastPara="1" rIns="86875" wrap="square" tIns="86875">
            <a:noAutofit/>
          </a:bodyPr>
          <a:lstStyle/>
          <a:p>
            <a:pPr indent="0" lvl="0" marL="0" rtl="0" algn="l">
              <a:spcBef>
                <a:spcPts val="0"/>
              </a:spcBef>
              <a:spcAft>
                <a:spcPts val="0"/>
              </a:spcAft>
              <a:buNone/>
            </a:pPr>
            <a:r>
              <a:t/>
            </a:r>
            <a:endParaRPr/>
          </a:p>
        </p:txBody>
      </p:sp>
      <p:sp>
        <p:nvSpPr>
          <p:cNvPr id="75" name="Google Shape;75;p15"/>
          <p:cNvSpPr/>
          <p:nvPr/>
        </p:nvSpPr>
        <p:spPr>
          <a:xfrm>
            <a:off x="3925642" y="574567"/>
            <a:ext cx="70800" cy="61500"/>
          </a:xfrm>
          <a:prstGeom prst="roundRect">
            <a:avLst>
              <a:gd fmla="val 614401" name="adj"/>
            </a:avLst>
          </a:prstGeom>
          <a:solidFill>
            <a:srgbClr val="E1E1DF"/>
          </a:solidFill>
          <a:ln>
            <a:noFill/>
          </a:ln>
        </p:spPr>
        <p:txBody>
          <a:bodyPr anchorCtr="0" anchor="ctr" bIns="86875" lIns="86875" spcFirstLastPara="1" rIns="86875" wrap="square" tIns="86875">
            <a:noAutofit/>
          </a:bodyPr>
          <a:lstStyle/>
          <a:p>
            <a:pPr indent="0" lvl="0" marL="0" rtl="0" algn="l">
              <a:spcBef>
                <a:spcPts val="0"/>
              </a:spcBef>
              <a:spcAft>
                <a:spcPts val="0"/>
              </a:spcAft>
              <a:buNone/>
            </a:pPr>
            <a:r>
              <a:t/>
            </a:r>
            <a:endParaRPr/>
          </a:p>
        </p:txBody>
      </p:sp>
      <p:sp>
        <p:nvSpPr>
          <p:cNvPr id="76" name="Google Shape;76;p15"/>
          <p:cNvSpPr/>
          <p:nvPr/>
        </p:nvSpPr>
        <p:spPr>
          <a:xfrm>
            <a:off x="1650178" y="541246"/>
            <a:ext cx="1933800" cy="116400"/>
          </a:xfrm>
          <a:prstGeom prst="rect">
            <a:avLst/>
          </a:prstGeom>
          <a:noFill/>
          <a:ln>
            <a:noFill/>
          </a:ln>
        </p:spPr>
        <p:txBody>
          <a:bodyPr anchorCtr="0" anchor="t" bIns="0" lIns="0" spcFirstLastPara="1" rIns="0" wrap="square" tIns="0">
            <a:noAutofit/>
          </a:bodyPr>
          <a:lstStyle/>
          <a:p>
            <a:pPr indent="0" lvl="0" marL="0" marR="0" rtl="0" algn="r">
              <a:lnSpc>
                <a:spcPct val="126315"/>
              </a:lnSpc>
              <a:spcBef>
                <a:spcPts val="0"/>
              </a:spcBef>
              <a:spcAft>
                <a:spcPts val="0"/>
              </a:spcAft>
              <a:buClr>
                <a:srgbClr val="C9C9C0"/>
              </a:buClr>
              <a:buSzPts val="903"/>
              <a:buFont typeface="Tomorrow SemiBold"/>
              <a:buNone/>
            </a:pPr>
            <a:r>
              <a:rPr b="1" i="0" lang="tr" sz="902" u="none" cap="none" strike="noStrike">
                <a:solidFill>
                  <a:srgbClr val="C9C9C0"/>
                </a:solidFill>
                <a:latin typeface="Tomorrow SemiBold"/>
                <a:ea typeface="Tomorrow SemiBold"/>
                <a:cs typeface="Tomorrow SemiBold"/>
                <a:sym typeface="Tomorrow SemiBold"/>
              </a:rPr>
              <a:t>1943 — İlk Nöron Modeli</a:t>
            </a:r>
            <a:endParaRPr b="0" i="0" sz="902" u="none" cap="none" strike="noStrike"/>
          </a:p>
        </p:txBody>
      </p:sp>
      <p:sp>
        <p:nvSpPr>
          <p:cNvPr id="77" name="Google Shape;77;p15"/>
          <p:cNvSpPr/>
          <p:nvPr/>
        </p:nvSpPr>
        <p:spPr>
          <a:xfrm>
            <a:off x="243325" y="694058"/>
            <a:ext cx="3340800" cy="39360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C9C9C0"/>
              </a:buClr>
              <a:buSzPts val="713"/>
              <a:buFont typeface="Tomorrow"/>
              <a:buNone/>
            </a:pPr>
            <a:r>
              <a:rPr b="0" i="0" lang="tr" sz="712" u="none" cap="none" strike="noStrike">
                <a:solidFill>
                  <a:srgbClr val="C9C9C0"/>
                </a:solidFill>
                <a:latin typeface="Tomorrow"/>
                <a:ea typeface="Tomorrow"/>
                <a:cs typeface="Tomorrow"/>
                <a:sym typeface="Tomorrow"/>
              </a:rPr>
              <a:t>McCulloch ve Pitts tarafından ilk matematiksel nöron modeli oluşturuldu. Bu model, gerçek bir biyolojik nöronun biyofiziksel mekanizmasını taklit etmeksizin bir nöronun işleyişi için soyut bir formülasyon sunmayı amaçlıyordu.</a:t>
            </a:r>
            <a:endParaRPr b="0" i="0" sz="712" u="none" cap="none" strike="noStrike"/>
          </a:p>
        </p:txBody>
      </p:sp>
      <p:sp>
        <p:nvSpPr>
          <p:cNvPr id="78" name="Google Shape;78;p15"/>
          <p:cNvSpPr/>
          <p:nvPr/>
        </p:nvSpPr>
        <p:spPr>
          <a:xfrm>
            <a:off x="3946514" y="1009251"/>
            <a:ext cx="188400" cy="12900"/>
          </a:xfrm>
          <a:prstGeom prst="roundRect">
            <a:avLst>
              <a:gd fmla="val 97675" name="adj"/>
            </a:avLst>
          </a:prstGeom>
          <a:solidFill>
            <a:srgbClr val="555553"/>
          </a:solidFill>
          <a:ln>
            <a:noFill/>
          </a:ln>
        </p:spPr>
        <p:txBody>
          <a:bodyPr anchorCtr="0" anchor="ctr" bIns="86875" lIns="86875" spcFirstLastPara="1" rIns="86875" wrap="square" tIns="86875">
            <a:noAutofit/>
          </a:bodyPr>
          <a:lstStyle/>
          <a:p>
            <a:pPr indent="0" lvl="0" marL="0" rtl="0" algn="l">
              <a:spcBef>
                <a:spcPts val="0"/>
              </a:spcBef>
              <a:spcAft>
                <a:spcPts val="0"/>
              </a:spcAft>
              <a:buNone/>
            </a:pPr>
            <a:r>
              <a:t/>
            </a:r>
            <a:endParaRPr/>
          </a:p>
        </p:txBody>
      </p:sp>
      <p:sp>
        <p:nvSpPr>
          <p:cNvPr id="79" name="Google Shape;79;p15"/>
          <p:cNvSpPr/>
          <p:nvPr/>
        </p:nvSpPr>
        <p:spPr>
          <a:xfrm>
            <a:off x="3925642" y="984782"/>
            <a:ext cx="70800" cy="61500"/>
          </a:xfrm>
          <a:prstGeom prst="roundRect">
            <a:avLst>
              <a:gd fmla="val 614401" name="adj"/>
            </a:avLst>
          </a:prstGeom>
          <a:solidFill>
            <a:srgbClr val="E1E1DF"/>
          </a:solidFill>
          <a:ln>
            <a:noFill/>
          </a:ln>
        </p:spPr>
        <p:txBody>
          <a:bodyPr anchorCtr="0" anchor="ctr" bIns="86875" lIns="86875" spcFirstLastPara="1" rIns="86875" wrap="square" tIns="86875">
            <a:noAutofit/>
          </a:bodyPr>
          <a:lstStyle/>
          <a:p>
            <a:pPr indent="0" lvl="0" marL="0" rtl="0" algn="l">
              <a:spcBef>
                <a:spcPts val="0"/>
              </a:spcBef>
              <a:spcAft>
                <a:spcPts val="0"/>
              </a:spcAft>
              <a:buNone/>
            </a:pPr>
            <a:r>
              <a:t/>
            </a:r>
            <a:endParaRPr/>
          </a:p>
        </p:txBody>
      </p:sp>
      <p:sp>
        <p:nvSpPr>
          <p:cNvPr id="80" name="Google Shape;80;p15"/>
          <p:cNvSpPr/>
          <p:nvPr/>
        </p:nvSpPr>
        <p:spPr>
          <a:xfrm>
            <a:off x="4338043" y="951451"/>
            <a:ext cx="1178700" cy="1284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C9C9C0"/>
              </a:buClr>
              <a:buSzPts val="903"/>
              <a:buFont typeface="Tomorrow SemiBold"/>
              <a:buNone/>
            </a:pPr>
            <a:r>
              <a:rPr b="1" i="0" lang="tr" sz="902" u="none" cap="none" strike="noStrike">
                <a:solidFill>
                  <a:srgbClr val="C9C9C0"/>
                </a:solidFill>
                <a:latin typeface="Tomorrow SemiBold"/>
                <a:ea typeface="Tomorrow SemiBold"/>
                <a:cs typeface="Tomorrow SemiBold"/>
                <a:sym typeface="Tomorrow SemiBold"/>
              </a:rPr>
              <a:t>1957 — Perceptron</a:t>
            </a:r>
            <a:endParaRPr b="0" i="0" sz="902" u="none" cap="none" strike="noStrike"/>
          </a:p>
        </p:txBody>
      </p:sp>
      <p:sp>
        <p:nvSpPr>
          <p:cNvPr id="81" name="Google Shape;81;p15"/>
          <p:cNvSpPr/>
          <p:nvPr/>
        </p:nvSpPr>
        <p:spPr>
          <a:xfrm>
            <a:off x="4338043" y="1104272"/>
            <a:ext cx="3340800" cy="393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C9C0"/>
              </a:buClr>
              <a:buSzPts val="713"/>
              <a:buFont typeface="Tomorrow"/>
              <a:buNone/>
            </a:pPr>
            <a:r>
              <a:rPr b="0" i="0" lang="tr" sz="712" u="none" cap="none" strike="noStrike">
                <a:solidFill>
                  <a:srgbClr val="C9C9C0"/>
                </a:solidFill>
                <a:latin typeface="Tomorrow"/>
                <a:ea typeface="Tomorrow"/>
                <a:cs typeface="Tomorrow"/>
                <a:sym typeface="Tomorrow"/>
              </a:rPr>
              <a:t>Rosenblatt tarafından Perceptron tanıtıldı. Perceptron, doğrusal ikili sınıflandırıcı olarak görev yapan tek katmanlı bir sinir ağıdır. Modern YSA dilinde, Perceptron aktivasyon fonksiyonu olarak Heaviside fonksiyonunu kullanır.</a:t>
            </a:r>
            <a:endParaRPr b="0" i="0" sz="712" u="none" cap="none" strike="noStrike"/>
          </a:p>
        </p:txBody>
      </p:sp>
      <p:sp>
        <p:nvSpPr>
          <p:cNvPr id="82" name="Google Shape;82;p15"/>
          <p:cNvSpPr/>
          <p:nvPr/>
        </p:nvSpPr>
        <p:spPr>
          <a:xfrm>
            <a:off x="3787006" y="1392584"/>
            <a:ext cx="188400" cy="12900"/>
          </a:xfrm>
          <a:prstGeom prst="roundRect">
            <a:avLst>
              <a:gd fmla="val 97675" name="adj"/>
            </a:avLst>
          </a:prstGeom>
          <a:solidFill>
            <a:srgbClr val="555553"/>
          </a:solidFill>
          <a:ln>
            <a:noFill/>
          </a:ln>
        </p:spPr>
        <p:txBody>
          <a:bodyPr anchorCtr="0" anchor="ctr" bIns="86875" lIns="86875" spcFirstLastPara="1" rIns="86875" wrap="square" tIns="86875">
            <a:noAutofit/>
          </a:bodyPr>
          <a:lstStyle/>
          <a:p>
            <a:pPr indent="0" lvl="0" marL="0" rtl="0" algn="l">
              <a:spcBef>
                <a:spcPts val="0"/>
              </a:spcBef>
              <a:spcAft>
                <a:spcPts val="0"/>
              </a:spcAft>
              <a:buNone/>
            </a:pPr>
            <a:r>
              <a:t/>
            </a:r>
            <a:endParaRPr/>
          </a:p>
        </p:txBody>
      </p:sp>
      <p:sp>
        <p:nvSpPr>
          <p:cNvPr id="83" name="Google Shape;83;p15"/>
          <p:cNvSpPr/>
          <p:nvPr/>
        </p:nvSpPr>
        <p:spPr>
          <a:xfrm>
            <a:off x="3925642" y="1368115"/>
            <a:ext cx="70800" cy="61500"/>
          </a:xfrm>
          <a:prstGeom prst="roundRect">
            <a:avLst>
              <a:gd fmla="val 614401" name="adj"/>
            </a:avLst>
          </a:prstGeom>
          <a:solidFill>
            <a:srgbClr val="E1E1DF"/>
          </a:solidFill>
          <a:ln>
            <a:noFill/>
          </a:ln>
        </p:spPr>
        <p:txBody>
          <a:bodyPr anchorCtr="0" anchor="ctr" bIns="86875" lIns="86875" spcFirstLastPara="1" rIns="86875" wrap="square" tIns="86875">
            <a:noAutofit/>
          </a:bodyPr>
          <a:lstStyle/>
          <a:p>
            <a:pPr indent="0" lvl="0" marL="0" rtl="0" algn="l">
              <a:spcBef>
                <a:spcPts val="0"/>
              </a:spcBef>
              <a:spcAft>
                <a:spcPts val="0"/>
              </a:spcAft>
              <a:buNone/>
            </a:pPr>
            <a:r>
              <a:t/>
            </a:r>
            <a:endParaRPr/>
          </a:p>
        </p:txBody>
      </p:sp>
      <p:sp>
        <p:nvSpPr>
          <p:cNvPr id="84" name="Google Shape;84;p15"/>
          <p:cNvSpPr/>
          <p:nvPr/>
        </p:nvSpPr>
        <p:spPr>
          <a:xfrm>
            <a:off x="1650163" y="1334784"/>
            <a:ext cx="1933800" cy="128400"/>
          </a:xfrm>
          <a:prstGeom prst="rect">
            <a:avLst/>
          </a:prstGeom>
          <a:noFill/>
          <a:ln>
            <a:noFill/>
          </a:ln>
        </p:spPr>
        <p:txBody>
          <a:bodyPr anchorCtr="0" anchor="t" bIns="0" lIns="0" spcFirstLastPara="1" rIns="0" wrap="square" tIns="0">
            <a:noAutofit/>
          </a:bodyPr>
          <a:lstStyle/>
          <a:p>
            <a:pPr indent="0" lvl="0" marL="0" marR="0" rtl="0" algn="r">
              <a:lnSpc>
                <a:spcPct val="126315"/>
              </a:lnSpc>
              <a:spcBef>
                <a:spcPts val="0"/>
              </a:spcBef>
              <a:spcAft>
                <a:spcPts val="0"/>
              </a:spcAft>
              <a:buClr>
                <a:srgbClr val="C9C9C0"/>
              </a:buClr>
              <a:buSzPts val="903"/>
              <a:buFont typeface="Tomorrow SemiBold"/>
              <a:buNone/>
            </a:pPr>
            <a:r>
              <a:rPr b="1" i="0" lang="tr" sz="902" u="none" cap="none" strike="noStrike">
                <a:solidFill>
                  <a:srgbClr val="C9C9C0"/>
                </a:solidFill>
                <a:latin typeface="Tomorrow SemiBold"/>
                <a:ea typeface="Tomorrow SemiBold"/>
                <a:cs typeface="Tomorrow SemiBold"/>
                <a:sym typeface="Tomorrow SemiBold"/>
              </a:rPr>
              <a:t>1968 — İlk Derin Öğrenme Ağları</a:t>
            </a:r>
            <a:endParaRPr b="0" i="0" sz="902" u="none" cap="none" strike="noStrike"/>
          </a:p>
        </p:txBody>
      </p:sp>
      <p:sp>
        <p:nvSpPr>
          <p:cNvPr id="85" name="Google Shape;85;p15"/>
          <p:cNvSpPr/>
          <p:nvPr/>
        </p:nvSpPr>
        <p:spPr>
          <a:xfrm>
            <a:off x="243325" y="1487605"/>
            <a:ext cx="3340800" cy="29460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C9C9C0"/>
              </a:buClr>
              <a:buSzPts val="713"/>
              <a:buFont typeface="Tomorrow"/>
              <a:buNone/>
            </a:pPr>
            <a:r>
              <a:rPr b="0" i="0" lang="tr" sz="712" u="none" cap="none" strike="noStrike">
                <a:solidFill>
                  <a:srgbClr val="C9C9C0"/>
                </a:solidFill>
                <a:latin typeface="Tomorrow"/>
                <a:ea typeface="Tomorrow"/>
                <a:cs typeface="Tomorrow"/>
                <a:sym typeface="Tomorrow"/>
              </a:rPr>
              <a:t>Ivakhnenko tarafından sinir ağlarını eğitmek için </a:t>
            </a:r>
            <a:r>
              <a:rPr b="0" i="1" lang="tr" sz="712" u="none" cap="none" strike="noStrike">
                <a:solidFill>
                  <a:srgbClr val="C9C9C0"/>
                </a:solidFill>
                <a:latin typeface="Tomorrow"/>
                <a:ea typeface="Tomorrow"/>
                <a:cs typeface="Tomorrow"/>
                <a:sym typeface="Tomorrow"/>
              </a:rPr>
              <a:t>Veri İşlemenin Grup Yöntemi</a:t>
            </a:r>
            <a:r>
              <a:rPr b="0" i="0" lang="tr" sz="712" u="none" cap="none" strike="noStrike">
                <a:solidFill>
                  <a:srgbClr val="C9C9C0"/>
                </a:solidFill>
                <a:latin typeface="Tomorrow"/>
                <a:ea typeface="Tomorrow"/>
                <a:cs typeface="Tomorrow"/>
                <a:sym typeface="Tomorrow"/>
              </a:rPr>
              <a:t> (GMDH) tanıtıldı. Bu ağlar, </a:t>
            </a:r>
            <a:r>
              <a:rPr b="0" i="1" lang="tr" sz="712" u="none" cap="none" strike="noStrike">
                <a:solidFill>
                  <a:srgbClr val="C9C9C0"/>
                </a:solidFill>
                <a:latin typeface="Tomorrow"/>
                <a:ea typeface="Tomorrow"/>
                <a:cs typeface="Tomorrow"/>
                <a:sym typeface="Tomorrow"/>
              </a:rPr>
              <a:t>İleri Beslemeli Çok Katmanlı Perceptron</a:t>
            </a:r>
            <a:r>
              <a:rPr b="0" i="0" lang="tr" sz="712" u="none" cap="none" strike="noStrike">
                <a:solidFill>
                  <a:srgbClr val="C9C9C0"/>
                </a:solidFill>
                <a:latin typeface="Tomorrow"/>
                <a:ea typeface="Tomorrow"/>
                <a:cs typeface="Tomorrow"/>
                <a:sym typeface="Tomorrow"/>
              </a:rPr>
              <a:t> türünün ilk derin öğrenme ağları olarak kabul edilmektedir.</a:t>
            </a:r>
            <a:endParaRPr b="0" i="0" sz="712" u="none" cap="none" strike="noStrike"/>
          </a:p>
        </p:txBody>
      </p:sp>
      <p:sp>
        <p:nvSpPr>
          <p:cNvPr id="86" name="Google Shape;86;p15"/>
          <p:cNvSpPr/>
          <p:nvPr/>
        </p:nvSpPr>
        <p:spPr>
          <a:xfrm>
            <a:off x="3946514" y="1775917"/>
            <a:ext cx="188400" cy="12900"/>
          </a:xfrm>
          <a:prstGeom prst="roundRect">
            <a:avLst>
              <a:gd fmla="val 97675" name="adj"/>
            </a:avLst>
          </a:prstGeom>
          <a:solidFill>
            <a:srgbClr val="555553"/>
          </a:solidFill>
          <a:ln>
            <a:noFill/>
          </a:ln>
        </p:spPr>
        <p:txBody>
          <a:bodyPr anchorCtr="0" anchor="ctr" bIns="86875" lIns="86875" spcFirstLastPara="1" rIns="86875" wrap="square" tIns="86875">
            <a:noAutofit/>
          </a:bodyPr>
          <a:lstStyle/>
          <a:p>
            <a:pPr indent="0" lvl="0" marL="0" rtl="0" algn="l">
              <a:spcBef>
                <a:spcPts val="0"/>
              </a:spcBef>
              <a:spcAft>
                <a:spcPts val="0"/>
              </a:spcAft>
              <a:buNone/>
            </a:pPr>
            <a:r>
              <a:t/>
            </a:r>
            <a:endParaRPr/>
          </a:p>
        </p:txBody>
      </p:sp>
      <p:sp>
        <p:nvSpPr>
          <p:cNvPr id="87" name="Google Shape;87;p15"/>
          <p:cNvSpPr/>
          <p:nvPr/>
        </p:nvSpPr>
        <p:spPr>
          <a:xfrm>
            <a:off x="3925642" y="1751447"/>
            <a:ext cx="70800" cy="61500"/>
          </a:xfrm>
          <a:prstGeom prst="roundRect">
            <a:avLst>
              <a:gd fmla="val 614401" name="adj"/>
            </a:avLst>
          </a:prstGeom>
          <a:solidFill>
            <a:srgbClr val="E1E1DF"/>
          </a:solidFill>
          <a:ln>
            <a:noFill/>
          </a:ln>
        </p:spPr>
        <p:txBody>
          <a:bodyPr anchorCtr="0" anchor="ctr" bIns="86875" lIns="86875" spcFirstLastPara="1" rIns="86875" wrap="square" tIns="86875">
            <a:noAutofit/>
          </a:bodyPr>
          <a:lstStyle/>
          <a:p>
            <a:pPr indent="0" lvl="0" marL="0" rtl="0" algn="l">
              <a:spcBef>
                <a:spcPts val="0"/>
              </a:spcBef>
              <a:spcAft>
                <a:spcPts val="0"/>
              </a:spcAft>
              <a:buNone/>
            </a:pPr>
            <a:r>
              <a:t/>
            </a:r>
            <a:endParaRPr/>
          </a:p>
        </p:txBody>
      </p:sp>
      <p:sp>
        <p:nvSpPr>
          <p:cNvPr id="88" name="Google Shape;88;p15"/>
          <p:cNvSpPr/>
          <p:nvPr/>
        </p:nvSpPr>
        <p:spPr>
          <a:xfrm>
            <a:off x="4338043" y="1718116"/>
            <a:ext cx="1766700" cy="1284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C9C9C0"/>
              </a:buClr>
              <a:buSzPts val="903"/>
              <a:buFont typeface="Tomorrow SemiBold"/>
              <a:buNone/>
            </a:pPr>
            <a:r>
              <a:rPr b="1" i="0" lang="tr" sz="902" u="none" cap="none" strike="noStrike">
                <a:solidFill>
                  <a:srgbClr val="C9C9C0"/>
                </a:solidFill>
                <a:latin typeface="Tomorrow SemiBold"/>
                <a:ea typeface="Tomorrow SemiBold"/>
                <a:cs typeface="Tomorrow SemiBold"/>
                <a:sym typeface="Tomorrow SemiBold"/>
              </a:rPr>
              <a:t>1980 — Neocoginitron ve CNN</a:t>
            </a:r>
            <a:endParaRPr b="0" i="0" sz="902" u="none" cap="none" strike="noStrike"/>
          </a:p>
        </p:txBody>
      </p:sp>
      <p:sp>
        <p:nvSpPr>
          <p:cNvPr id="89" name="Google Shape;89;p15"/>
          <p:cNvSpPr/>
          <p:nvPr/>
        </p:nvSpPr>
        <p:spPr>
          <a:xfrm>
            <a:off x="4338043" y="1870937"/>
            <a:ext cx="3340800" cy="294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C9C0"/>
              </a:buClr>
              <a:buSzPts val="713"/>
              <a:buFont typeface="Tomorrow"/>
              <a:buNone/>
            </a:pPr>
            <a:r>
              <a:rPr b="0" i="0" lang="tr" sz="712" u="none" cap="none" strike="noStrike">
                <a:solidFill>
                  <a:srgbClr val="C9C9C0"/>
                </a:solidFill>
                <a:latin typeface="Tomorrow"/>
                <a:ea typeface="Tomorrow"/>
                <a:cs typeface="Tomorrow"/>
                <a:sym typeface="Tomorrow"/>
              </a:rPr>
              <a:t>Fukushima tarafından görsel örüntü tanıma için hiyerarşik çok katmanlı bir sinir ağı olan </a:t>
            </a:r>
            <a:r>
              <a:rPr b="0" i="1" lang="tr" sz="712" u="none" cap="none" strike="noStrike">
                <a:solidFill>
                  <a:srgbClr val="C9C9C0"/>
                </a:solidFill>
                <a:latin typeface="Tomorrow"/>
                <a:ea typeface="Tomorrow"/>
                <a:cs typeface="Tomorrow"/>
                <a:sym typeface="Tomorrow"/>
              </a:rPr>
              <a:t>Neocoginitron</a:t>
            </a:r>
            <a:r>
              <a:rPr b="0" i="0" lang="tr" sz="712" u="none" cap="none" strike="noStrike">
                <a:solidFill>
                  <a:srgbClr val="C9C9C0"/>
                </a:solidFill>
                <a:latin typeface="Tomorrow"/>
                <a:ea typeface="Tomorrow"/>
                <a:cs typeface="Tomorrow"/>
                <a:sym typeface="Tomorrow"/>
              </a:rPr>
              <a:t> tanıtıldı. </a:t>
            </a:r>
            <a:r>
              <a:rPr b="0" i="1" lang="tr" sz="712" u="none" cap="none" strike="noStrike">
                <a:solidFill>
                  <a:srgbClr val="C9C9C0"/>
                </a:solidFill>
                <a:latin typeface="Tomorrow"/>
                <a:ea typeface="Tomorrow"/>
                <a:cs typeface="Tomorrow"/>
                <a:sym typeface="Tomorrow"/>
              </a:rPr>
              <a:t>Evrişimli sinir ağlarını</a:t>
            </a:r>
            <a:r>
              <a:rPr b="0" i="0" lang="tr" sz="712" u="none" cap="none" strike="noStrike">
                <a:solidFill>
                  <a:srgbClr val="C9C9C0"/>
                </a:solidFill>
                <a:latin typeface="Tomorrow"/>
                <a:ea typeface="Tomorrow"/>
                <a:cs typeface="Tomorrow"/>
                <a:sym typeface="Tomorrow"/>
              </a:rPr>
              <a:t> (bugün CNN olarak adlandırılan) ortaya koydu.</a:t>
            </a:r>
            <a:endParaRPr b="0" i="0" sz="712" u="none" cap="none" strike="noStrike"/>
          </a:p>
        </p:txBody>
      </p:sp>
      <p:sp>
        <p:nvSpPr>
          <p:cNvPr id="90" name="Google Shape;90;p15"/>
          <p:cNvSpPr/>
          <p:nvPr/>
        </p:nvSpPr>
        <p:spPr>
          <a:xfrm>
            <a:off x="3787006" y="2159249"/>
            <a:ext cx="188400" cy="12900"/>
          </a:xfrm>
          <a:prstGeom prst="roundRect">
            <a:avLst>
              <a:gd fmla="val 97675" name="adj"/>
            </a:avLst>
          </a:prstGeom>
          <a:solidFill>
            <a:srgbClr val="555553"/>
          </a:solidFill>
          <a:ln>
            <a:noFill/>
          </a:ln>
        </p:spPr>
        <p:txBody>
          <a:bodyPr anchorCtr="0" anchor="ctr" bIns="86875" lIns="86875" spcFirstLastPara="1" rIns="86875" wrap="square" tIns="86875">
            <a:noAutofit/>
          </a:bodyPr>
          <a:lstStyle/>
          <a:p>
            <a:pPr indent="0" lvl="0" marL="0" rtl="0" algn="l">
              <a:spcBef>
                <a:spcPts val="0"/>
              </a:spcBef>
              <a:spcAft>
                <a:spcPts val="0"/>
              </a:spcAft>
              <a:buNone/>
            </a:pPr>
            <a:r>
              <a:t/>
            </a:r>
            <a:endParaRPr/>
          </a:p>
        </p:txBody>
      </p:sp>
      <p:sp>
        <p:nvSpPr>
          <p:cNvPr id="91" name="Google Shape;91;p15"/>
          <p:cNvSpPr/>
          <p:nvPr/>
        </p:nvSpPr>
        <p:spPr>
          <a:xfrm>
            <a:off x="3925642" y="2134780"/>
            <a:ext cx="70800" cy="61500"/>
          </a:xfrm>
          <a:prstGeom prst="roundRect">
            <a:avLst>
              <a:gd fmla="val 614401" name="adj"/>
            </a:avLst>
          </a:prstGeom>
          <a:solidFill>
            <a:srgbClr val="E1E1DF"/>
          </a:solidFill>
          <a:ln>
            <a:noFill/>
          </a:ln>
        </p:spPr>
        <p:txBody>
          <a:bodyPr anchorCtr="0" anchor="ctr" bIns="86875" lIns="86875" spcFirstLastPara="1" rIns="86875" wrap="square" tIns="86875">
            <a:noAutofit/>
          </a:bodyPr>
          <a:lstStyle/>
          <a:p>
            <a:pPr indent="0" lvl="0" marL="0" rtl="0" algn="l">
              <a:spcBef>
                <a:spcPts val="0"/>
              </a:spcBef>
              <a:spcAft>
                <a:spcPts val="0"/>
              </a:spcAft>
              <a:buNone/>
            </a:pPr>
            <a:r>
              <a:t/>
            </a:r>
            <a:endParaRPr/>
          </a:p>
        </p:txBody>
      </p:sp>
      <p:sp>
        <p:nvSpPr>
          <p:cNvPr id="92" name="Google Shape;92;p15"/>
          <p:cNvSpPr/>
          <p:nvPr/>
        </p:nvSpPr>
        <p:spPr>
          <a:xfrm>
            <a:off x="2405395" y="2101449"/>
            <a:ext cx="1178700" cy="128400"/>
          </a:xfrm>
          <a:prstGeom prst="rect">
            <a:avLst/>
          </a:prstGeom>
          <a:noFill/>
          <a:ln>
            <a:noFill/>
          </a:ln>
        </p:spPr>
        <p:txBody>
          <a:bodyPr anchorCtr="0" anchor="t" bIns="0" lIns="0" spcFirstLastPara="1" rIns="0" wrap="square" tIns="0">
            <a:noAutofit/>
          </a:bodyPr>
          <a:lstStyle/>
          <a:p>
            <a:pPr indent="0" lvl="0" marL="0" marR="0" rtl="0" algn="r">
              <a:lnSpc>
                <a:spcPct val="126315"/>
              </a:lnSpc>
              <a:spcBef>
                <a:spcPts val="0"/>
              </a:spcBef>
              <a:spcAft>
                <a:spcPts val="0"/>
              </a:spcAft>
              <a:buClr>
                <a:srgbClr val="C9C9C0"/>
              </a:buClr>
              <a:buSzPts val="903"/>
              <a:buFont typeface="Tomorrow SemiBold"/>
              <a:buNone/>
            </a:pPr>
            <a:r>
              <a:rPr b="1" i="0" lang="tr" sz="902" u="none" cap="none" strike="noStrike">
                <a:solidFill>
                  <a:srgbClr val="C9C9C0"/>
                </a:solidFill>
                <a:latin typeface="Tomorrow SemiBold"/>
                <a:ea typeface="Tomorrow SemiBold"/>
                <a:cs typeface="Tomorrow SemiBold"/>
                <a:sym typeface="Tomorrow SemiBold"/>
              </a:rPr>
              <a:t>1997 — LSTM</a:t>
            </a:r>
            <a:endParaRPr b="0" i="0" sz="902" u="none" cap="none" strike="noStrike"/>
          </a:p>
        </p:txBody>
      </p:sp>
      <p:sp>
        <p:nvSpPr>
          <p:cNvPr id="93" name="Google Shape;93;p15"/>
          <p:cNvSpPr/>
          <p:nvPr/>
        </p:nvSpPr>
        <p:spPr>
          <a:xfrm>
            <a:off x="243325" y="2254270"/>
            <a:ext cx="3340800" cy="29460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C9C9C0"/>
              </a:buClr>
              <a:buSzPts val="713"/>
              <a:buFont typeface="Tomorrow"/>
              <a:buNone/>
            </a:pPr>
            <a:r>
              <a:rPr b="0" i="0" lang="tr" sz="712" u="none" cap="none" strike="noStrike">
                <a:solidFill>
                  <a:srgbClr val="C9C9C0"/>
                </a:solidFill>
                <a:latin typeface="Tomorrow"/>
                <a:ea typeface="Tomorrow"/>
                <a:cs typeface="Tomorrow"/>
                <a:sym typeface="Tomorrow"/>
              </a:rPr>
              <a:t>Hochreiter ve Schmidhuber tarafından RNN öğrenmek için ilk denetimli model olan Uzun Kısa Süreli Bellek (LSTM) tanıtıldı. LSTM, katmanlar arasındaki azalan hata sinyali sorununu önler.</a:t>
            </a:r>
            <a:endParaRPr b="0" i="0" sz="712" u="none" cap="none" strike="noStrike"/>
          </a:p>
        </p:txBody>
      </p:sp>
      <p:sp>
        <p:nvSpPr>
          <p:cNvPr id="94" name="Google Shape;94;p15"/>
          <p:cNvSpPr/>
          <p:nvPr/>
        </p:nvSpPr>
        <p:spPr>
          <a:xfrm>
            <a:off x="3946514" y="2542582"/>
            <a:ext cx="188400" cy="12900"/>
          </a:xfrm>
          <a:prstGeom prst="roundRect">
            <a:avLst>
              <a:gd fmla="val 97675" name="adj"/>
            </a:avLst>
          </a:prstGeom>
          <a:solidFill>
            <a:srgbClr val="555553"/>
          </a:solidFill>
          <a:ln>
            <a:noFill/>
          </a:ln>
        </p:spPr>
        <p:txBody>
          <a:bodyPr anchorCtr="0" anchor="ctr" bIns="86875" lIns="86875" spcFirstLastPara="1" rIns="86875" wrap="square" tIns="86875">
            <a:noAutofit/>
          </a:bodyPr>
          <a:lstStyle/>
          <a:p>
            <a:pPr indent="0" lvl="0" marL="0" rtl="0" algn="l">
              <a:spcBef>
                <a:spcPts val="0"/>
              </a:spcBef>
              <a:spcAft>
                <a:spcPts val="0"/>
              </a:spcAft>
              <a:buNone/>
            </a:pPr>
            <a:r>
              <a:t/>
            </a:r>
            <a:endParaRPr/>
          </a:p>
        </p:txBody>
      </p:sp>
      <p:sp>
        <p:nvSpPr>
          <p:cNvPr id="95" name="Google Shape;95;p15"/>
          <p:cNvSpPr/>
          <p:nvPr/>
        </p:nvSpPr>
        <p:spPr>
          <a:xfrm>
            <a:off x="3925642" y="2518113"/>
            <a:ext cx="70800" cy="61500"/>
          </a:xfrm>
          <a:prstGeom prst="roundRect">
            <a:avLst>
              <a:gd fmla="val 614401" name="adj"/>
            </a:avLst>
          </a:prstGeom>
          <a:solidFill>
            <a:srgbClr val="E1E1DF"/>
          </a:solidFill>
          <a:ln>
            <a:noFill/>
          </a:ln>
        </p:spPr>
        <p:txBody>
          <a:bodyPr anchorCtr="0" anchor="ctr" bIns="86875" lIns="86875" spcFirstLastPara="1" rIns="86875" wrap="square" tIns="86875">
            <a:noAutofit/>
          </a:bodyPr>
          <a:lstStyle/>
          <a:p>
            <a:pPr indent="0" lvl="0" marL="0" rtl="0" algn="l">
              <a:spcBef>
                <a:spcPts val="0"/>
              </a:spcBef>
              <a:spcAft>
                <a:spcPts val="0"/>
              </a:spcAft>
              <a:buNone/>
            </a:pPr>
            <a:r>
              <a:t/>
            </a:r>
            <a:endParaRPr/>
          </a:p>
        </p:txBody>
      </p:sp>
      <p:sp>
        <p:nvSpPr>
          <p:cNvPr id="96" name="Google Shape;96;p15"/>
          <p:cNvSpPr/>
          <p:nvPr/>
        </p:nvSpPr>
        <p:spPr>
          <a:xfrm>
            <a:off x="4338043" y="2484781"/>
            <a:ext cx="1566000" cy="1284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C9C9C0"/>
              </a:buClr>
              <a:buSzPts val="903"/>
              <a:buFont typeface="Tomorrow SemiBold"/>
              <a:buNone/>
            </a:pPr>
            <a:r>
              <a:rPr b="1" i="0" lang="tr" sz="902" u="none" cap="none" strike="noStrike">
                <a:solidFill>
                  <a:srgbClr val="C9C9C0"/>
                </a:solidFill>
                <a:latin typeface="Tomorrow SemiBold"/>
                <a:ea typeface="Tomorrow SemiBold"/>
                <a:cs typeface="Tomorrow SemiBold"/>
                <a:sym typeface="Tomorrow SemiBold"/>
              </a:rPr>
              <a:t>2006 — Derin İnanç Ağları</a:t>
            </a:r>
            <a:endParaRPr b="0" i="0" sz="902" u="none" cap="none" strike="noStrike"/>
          </a:p>
        </p:txBody>
      </p:sp>
      <p:sp>
        <p:nvSpPr>
          <p:cNvPr id="97" name="Google Shape;97;p15"/>
          <p:cNvSpPr/>
          <p:nvPr/>
        </p:nvSpPr>
        <p:spPr>
          <a:xfrm>
            <a:off x="4338043" y="2637602"/>
            <a:ext cx="3340800" cy="393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C9C0"/>
              </a:buClr>
              <a:buSzPts val="713"/>
              <a:buFont typeface="Tomorrow"/>
              <a:buNone/>
            </a:pPr>
            <a:r>
              <a:rPr b="0" i="0" lang="tr" sz="712" u="none" cap="none" strike="noStrike">
                <a:solidFill>
                  <a:srgbClr val="C9C9C0"/>
                </a:solidFill>
                <a:latin typeface="Tomorrow"/>
                <a:ea typeface="Tomorrow"/>
                <a:cs typeface="Tomorrow"/>
                <a:sym typeface="Tomorrow"/>
              </a:rPr>
              <a:t>Hinton et al. tarafından Derin İnanç Ağları adı verilen sinir ağlarının, açgözlü katman bazlı ön eğitim adı verilen bir strateji kullanılarak verimli biçimde eğitilebildiği gösterildi. Bu, </a:t>
            </a:r>
            <a:r>
              <a:rPr b="0" i="1" lang="tr" sz="712" u="none" cap="none" strike="noStrike">
                <a:solidFill>
                  <a:srgbClr val="C9C9C0"/>
                </a:solidFill>
                <a:latin typeface="Tomorrow"/>
                <a:ea typeface="Tomorrow"/>
                <a:cs typeface="Tomorrow"/>
                <a:sym typeface="Tomorrow"/>
              </a:rPr>
              <a:t>derin öğrenme</a:t>
            </a:r>
            <a:r>
              <a:rPr b="0" i="0" lang="tr" sz="712" u="none" cap="none" strike="noStrike">
                <a:solidFill>
                  <a:srgbClr val="C9C9C0"/>
                </a:solidFill>
                <a:latin typeface="Tomorrow"/>
                <a:ea typeface="Tomorrow"/>
                <a:cs typeface="Tomorrow"/>
                <a:sym typeface="Tomorrow"/>
              </a:rPr>
              <a:t> terimini de popüler kılan üçüncü sinir ağı dalgasını başlattı.</a:t>
            </a:r>
            <a:endParaRPr b="0" i="0" sz="712" u="none" cap="none" strike="noStrike"/>
          </a:p>
        </p:txBody>
      </p:sp>
      <p:sp>
        <p:nvSpPr>
          <p:cNvPr id="98" name="Google Shape;98;p15"/>
          <p:cNvSpPr/>
          <p:nvPr/>
        </p:nvSpPr>
        <p:spPr>
          <a:xfrm>
            <a:off x="3787006" y="2925914"/>
            <a:ext cx="188400" cy="12900"/>
          </a:xfrm>
          <a:prstGeom prst="roundRect">
            <a:avLst>
              <a:gd fmla="val 97675" name="adj"/>
            </a:avLst>
          </a:prstGeom>
          <a:solidFill>
            <a:srgbClr val="555553"/>
          </a:solidFill>
          <a:ln>
            <a:noFill/>
          </a:ln>
        </p:spPr>
        <p:txBody>
          <a:bodyPr anchorCtr="0" anchor="ctr" bIns="86875" lIns="86875" spcFirstLastPara="1" rIns="86875" wrap="square" tIns="86875">
            <a:noAutofit/>
          </a:bodyPr>
          <a:lstStyle/>
          <a:p>
            <a:pPr indent="0" lvl="0" marL="0" rtl="0" algn="l">
              <a:spcBef>
                <a:spcPts val="0"/>
              </a:spcBef>
              <a:spcAft>
                <a:spcPts val="0"/>
              </a:spcAft>
              <a:buNone/>
            </a:pPr>
            <a:r>
              <a:t/>
            </a:r>
            <a:endParaRPr/>
          </a:p>
        </p:txBody>
      </p:sp>
      <p:sp>
        <p:nvSpPr>
          <p:cNvPr id="99" name="Google Shape;99;p15"/>
          <p:cNvSpPr/>
          <p:nvPr/>
        </p:nvSpPr>
        <p:spPr>
          <a:xfrm>
            <a:off x="3925642" y="2901445"/>
            <a:ext cx="70800" cy="61500"/>
          </a:xfrm>
          <a:prstGeom prst="roundRect">
            <a:avLst>
              <a:gd fmla="val 614401" name="adj"/>
            </a:avLst>
          </a:prstGeom>
          <a:solidFill>
            <a:srgbClr val="E1E1DF"/>
          </a:solidFill>
          <a:ln>
            <a:noFill/>
          </a:ln>
        </p:spPr>
        <p:txBody>
          <a:bodyPr anchorCtr="0" anchor="ctr" bIns="86875" lIns="86875" spcFirstLastPara="1" rIns="86875" wrap="square" tIns="86875">
            <a:noAutofit/>
          </a:bodyPr>
          <a:lstStyle/>
          <a:p>
            <a:pPr indent="0" lvl="0" marL="0" rtl="0" algn="l">
              <a:spcBef>
                <a:spcPts val="0"/>
              </a:spcBef>
              <a:spcAft>
                <a:spcPts val="0"/>
              </a:spcAft>
              <a:buNone/>
            </a:pPr>
            <a:r>
              <a:t/>
            </a:r>
            <a:endParaRPr/>
          </a:p>
        </p:txBody>
      </p:sp>
      <p:sp>
        <p:nvSpPr>
          <p:cNvPr id="100" name="Google Shape;100;p15"/>
          <p:cNvSpPr/>
          <p:nvPr/>
        </p:nvSpPr>
        <p:spPr>
          <a:xfrm>
            <a:off x="2162399" y="2868115"/>
            <a:ext cx="1421400" cy="128400"/>
          </a:xfrm>
          <a:prstGeom prst="rect">
            <a:avLst/>
          </a:prstGeom>
          <a:noFill/>
          <a:ln>
            <a:noFill/>
          </a:ln>
        </p:spPr>
        <p:txBody>
          <a:bodyPr anchorCtr="0" anchor="t" bIns="0" lIns="0" spcFirstLastPara="1" rIns="0" wrap="square" tIns="0">
            <a:noAutofit/>
          </a:bodyPr>
          <a:lstStyle/>
          <a:p>
            <a:pPr indent="0" lvl="0" marL="0" marR="0" rtl="0" algn="r">
              <a:lnSpc>
                <a:spcPct val="126315"/>
              </a:lnSpc>
              <a:spcBef>
                <a:spcPts val="0"/>
              </a:spcBef>
              <a:spcAft>
                <a:spcPts val="0"/>
              </a:spcAft>
              <a:buClr>
                <a:srgbClr val="C9C9C0"/>
              </a:buClr>
              <a:buSzPts val="903"/>
              <a:buFont typeface="Tomorrow SemiBold"/>
              <a:buNone/>
            </a:pPr>
            <a:r>
              <a:rPr b="1" i="0" lang="tr" sz="902" u="none" cap="none" strike="noStrike">
                <a:solidFill>
                  <a:srgbClr val="C9C9C0"/>
                </a:solidFill>
                <a:latin typeface="Tomorrow SemiBold"/>
                <a:ea typeface="Tomorrow SemiBold"/>
                <a:cs typeface="Tomorrow SemiBold"/>
                <a:sym typeface="Tomorrow SemiBold"/>
              </a:rPr>
              <a:t>2012 — AlexNet Devrimi</a:t>
            </a:r>
            <a:endParaRPr b="0" i="0" sz="902" u="none" cap="none" strike="noStrike"/>
          </a:p>
        </p:txBody>
      </p:sp>
      <p:sp>
        <p:nvSpPr>
          <p:cNvPr id="101" name="Google Shape;101;p15"/>
          <p:cNvSpPr/>
          <p:nvPr/>
        </p:nvSpPr>
        <p:spPr>
          <a:xfrm>
            <a:off x="243325" y="3020936"/>
            <a:ext cx="3340800" cy="29460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C9C9C0"/>
              </a:buClr>
              <a:buSzPts val="713"/>
              <a:buFont typeface="Tomorrow"/>
              <a:buNone/>
            </a:pPr>
            <a:r>
              <a:rPr b="0" i="0" lang="tr" sz="712" u="none" cap="none" strike="noStrike">
                <a:solidFill>
                  <a:srgbClr val="C9C9C0"/>
                </a:solidFill>
                <a:latin typeface="Tomorrow"/>
                <a:ea typeface="Tomorrow"/>
                <a:cs typeface="Tomorrow"/>
                <a:sym typeface="Tomorrow"/>
              </a:rPr>
              <a:t>Alex Krizhevsky, GPU kullanan ve LeNet5'i geliştiren bir CNN olan AlexNet ile ImageNet Büyük Ölçekli Görsel Tanıma Yarışması'nı kazandı. Bu başarı, derin öğrenme topluluğunda bir evrişimli sinir ağı rönesansı başlattı.</a:t>
            </a:r>
            <a:endParaRPr b="0" i="0" sz="712" u="none" cap="none" strike="noStrike"/>
          </a:p>
        </p:txBody>
      </p:sp>
      <p:sp>
        <p:nvSpPr>
          <p:cNvPr id="102" name="Google Shape;102;p15"/>
          <p:cNvSpPr/>
          <p:nvPr/>
        </p:nvSpPr>
        <p:spPr>
          <a:xfrm>
            <a:off x="3946514" y="3309248"/>
            <a:ext cx="188400" cy="12900"/>
          </a:xfrm>
          <a:prstGeom prst="roundRect">
            <a:avLst>
              <a:gd fmla="val 97675" name="adj"/>
            </a:avLst>
          </a:prstGeom>
          <a:solidFill>
            <a:srgbClr val="555553"/>
          </a:solidFill>
          <a:ln>
            <a:noFill/>
          </a:ln>
        </p:spPr>
        <p:txBody>
          <a:bodyPr anchorCtr="0" anchor="ctr" bIns="86875" lIns="86875" spcFirstLastPara="1" rIns="86875" wrap="square" tIns="86875">
            <a:noAutofit/>
          </a:bodyPr>
          <a:lstStyle/>
          <a:p>
            <a:pPr indent="0" lvl="0" marL="0" rtl="0" algn="l">
              <a:spcBef>
                <a:spcPts val="0"/>
              </a:spcBef>
              <a:spcAft>
                <a:spcPts val="0"/>
              </a:spcAft>
              <a:buNone/>
            </a:pPr>
            <a:r>
              <a:t/>
            </a:r>
            <a:endParaRPr/>
          </a:p>
        </p:txBody>
      </p:sp>
      <p:sp>
        <p:nvSpPr>
          <p:cNvPr id="103" name="Google Shape;103;p15"/>
          <p:cNvSpPr/>
          <p:nvPr/>
        </p:nvSpPr>
        <p:spPr>
          <a:xfrm>
            <a:off x="3925642" y="3284779"/>
            <a:ext cx="70800" cy="61500"/>
          </a:xfrm>
          <a:prstGeom prst="roundRect">
            <a:avLst>
              <a:gd fmla="val 614401" name="adj"/>
            </a:avLst>
          </a:prstGeom>
          <a:solidFill>
            <a:srgbClr val="E1E1DF"/>
          </a:solidFill>
          <a:ln>
            <a:noFill/>
          </a:ln>
        </p:spPr>
        <p:txBody>
          <a:bodyPr anchorCtr="0" anchor="ctr" bIns="86875" lIns="86875" spcFirstLastPara="1" rIns="86875" wrap="square" tIns="86875">
            <a:noAutofit/>
          </a:bodyPr>
          <a:lstStyle/>
          <a:p>
            <a:pPr indent="0" lvl="0" marL="0" rtl="0" algn="l">
              <a:spcBef>
                <a:spcPts val="0"/>
              </a:spcBef>
              <a:spcAft>
                <a:spcPts val="0"/>
              </a:spcAft>
              <a:buNone/>
            </a:pPr>
            <a:r>
              <a:t/>
            </a:r>
            <a:endParaRPr/>
          </a:p>
        </p:txBody>
      </p:sp>
      <p:sp>
        <p:nvSpPr>
          <p:cNvPr id="104" name="Google Shape;104;p15"/>
          <p:cNvSpPr/>
          <p:nvPr/>
        </p:nvSpPr>
        <p:spPr>
          <a:xfrm>
            <a:off x="4338055" y="3251447"/>
            <a:ext cx="2101800" cy="129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C9C9C0"/>
              </a:buClr>
              <a:buSzPts val="903"/>
              <a:buFont typeface="Tomorrow SemiBold"/>
              <a:buNone/>
            </a:pPr>
            <a:r>
              <a:rPr b="1" i="0" lang="tr" sz="902" u="none" cap="none" strike="noStrike">
                <a:solidFill>
                  <a:srgbClr val="C9C9C0"/>
                </a:solidFill>
                <a:latin typeface="Tomorrow SemiBold"/>
                <a:ea typeface="Tomorrow SemiBold"/>
                <a:cs typeface="Tomorrow SemiBold"/>
                <a:sym typeface="Tomorrow SemiBold"/>
              </a:rPr>
              <a:t>2019 — Turing Ödülü</a:t>
            </a:r>
            <a:endParaRPr b="0" i="0" sz="902" u="none" cap="none" strike="noStrike"/>
          </a:p>
        </p:txBody>
      </p:sp>
      <p:sp>
        <p:nvSpPr>
          <p:cNvPr id="105" name="Google Shape;105;p15"/>
          <p:cNvSpPr/>
          <p:nvPr/>
        </p:nvSpPr>
        <p:spPr>
          <a:xfrm>
            <a:off x="4338043" y="3404268"/>
            <a:ext cx="3340800" cy="294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C9C0"/>
              </a:buClr>
              <a:buSzPts val="713"/>
              <a:buFont typeface="Tomorrow"/>
              <a:buNone/>
            </a:pPr>
            <a:r>
              <a:rPr b="0" i="0" lang="tr" sz="712" u="none" cap="none" strike="noStrike">
                <a:solidFill>
                  <a:srgbClr val="C9C9C0"/>
                </a:solidFill>
                <a:latin typeface="Tomorrow"/>
                <a:ea typeface="Tomorrow"/>
                <a:cs typeface="Tomorrow"/>
                <a:sym typeface="Tomorrow"/>
              </a:rPr>
              <a:t>Yoshua Bengio, Geoffrey Hinton ve Yann LeCun; derin sinir ağlarını bilişimin kritik bir bileşeni haline getiren kavramsal ve mühendislik atılımları nedeniyle Turing Ödülü'ne layık görüldü.</a:t>
            </a:r>
            <a:endParaRPr b="0" i="0" sz="712" u="none" cap="none" strike="noStrike"/>
          </a:p>
        </p:txBody>
      </p:sp>
      <p:pic>
        <p:nvPicPr>
          <p:cNvPr descr="preencoded.png" id="106" name="Google Shape;106;p15"/>
          <p:cNvPicPr preferRelativeResize="0"/>
          <p:nvPr/>
        </p:nvPicPr>
        <p:blipFill rotWithShape="1">
          <a:blip r:embed="rId3">
            <a:alphaModFix/>
          </a:blip>
          <a:srcRect b="0" l="0" r="0" t="0"/>
          <a:stretch/>
        </p:blipFill>
        <p:spPr>
          <a:xfrm>
            <a:off x="289825" y="3635122"/>
            <a:ext cx="2395875" cy="1465800"/>
          </a:xfrm>
          <a:prstGeom prst="rect">
            <a:avLst/>
          </a:prstGeom>
          <a:noFill/>
          <a:ln>
            <a:noFill/>
          </a:ln>
        </p:spPr>
      </p:pic>
      <p:sp>
        <p:nvSpPr>
          <p:cNvPr id="107" name="Google Shape;107;p15"/>
          <p:cNvSpPr/>
          <p:nvPr/>
        </p:nvSpPr>
        <p:spPr>
          <a:xfrm>
            <a:off x="3010900" y="4071938"/>
            <a:ext cx="5494800" cy="823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C9C0"/>
              </a:buClr>
              <a:buSzPts val="750"/>
              <a:buFont typeface="Tomorrow"/>
              <a:buNone/>
            </a:pPr>
            <a:r>
              <a:rPr b="1" i="0" lang="tr" sz="950" u="none" cap="none" strike="noStrike">
                <a:solidFill>
                  <a:srgbClr val="C9C9C0"/>
                </a:solidFill>
                <a:latin typeface="Tomorrow"/>
                <a:ea typeface="Tomorrow"/>
                <a:cs typeface="Tomorrow"/>
                <a:sym typeface="Tomorrow"/>
              </a:rPr>
              <a:t>Şekil 1 |</a:t>
            </a:r>
            <a:r>
              <a:rPr b="0" i="0" lang="tr" sz="950" u="none" cap="none" strike="noStrike">
                <a:solidFill>
                  <a:srgbClr val="C9C9C0"/>
                </a:solidFill>
                <a:latin typeface="Tomorrow"/>
                <a:ea typeface="Tomorrow"/>
                <a:cs typeface="Tomorrow"/>
                <a:sym typeface="Tomorrow"/>
              </a:rPr>
              <a:t> Yayın yılına bağlı olarak DL, derin öğrenme; CNN, evrişimli sinir ağı; DBN, derin inanç ağı; LSTM, uzun kısa süreli bellek; AEN, otokodlayıcı; ve MLP, çok katmanlı perceptron için yayın sayıları. İki kesikli çizgi sırasıyla 5 (derin öğrenme) ve 3 (evrişimli sinir ağı) faktörüyle ölçeklendirilmiştir. Derin öğrenme için toplamda 30.230 yayın bulunmuş olup bunların %52,1'i bilgisayar bilimi ve %41,5'i mühendislik alanındadır.</a:t>
            </a:r>
            <a:endParaRPr b="0" i="0" sz="95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6"/>
          <p:cNvSpPr/>
          <p:nvPr/>
        </p:nvSpPr>
        <p:spPr>
          <a:xfrm>
            <a:off x="-15524" y="78328"/>
            <a:ext cx="7738500" cy="309900"/>
          </a:xfrm>
          <a:prstGeom prst="rect">
            <a:avLst/>
          </a:prstGeom>
          <a:noFill/>
          <a:ln>
            <a:noFill/>
          </a:ln>
        </p:spPr>
        <p:txBody>
          <a:bodyPr anchorCtr="0" anchor="t" bIns="0" lIns="0" spcFirstLastPara="1" rIns="0" wrap="square" tIns="0">
            <a:noAutofit/>
          </a:bodyPr>
          <a:lstStyle/>
          <a:p>
            <a:pPr indent="0" lvl="0" marL="0" marR="0" rtl="0" algn="l">
              <a:lnSpc>
                <a:spcPct val="125531"/>
              </a:lnSpc>
              <a:spcBef>
                <a:spcPts val="0"/>
              </a:spcBef>
              <a:spcAft>
                <a:spcPts val="0"/>
              </a:spcAft>
              <a:buClr>
                <a:srgbClr val="EDEDE8"/>
              </a:buClr>
              <a:buSzPts val="2350"/>
              <a:buFont typeface="Tomorrow SemiBold"/>
              <a:buNone/>
            </a:pPr>
            <a:r>
              <a:rPr b="1" i="0" lang="tr" sz="2350" u="none" cap="none" strike="noStrike">
                <a:solidFill>
                  <a:srgbClr val="EDEDE8"/>
                </a:solidFill>
                <a:latin typeface="Tomorrow SemiBold"/>
                <a:ea typeface="Tomorrow SemiBold"/>
                <a:cs typeface="Tomorrow SemiBold"/>
                <a:sym typeface="Tomorrow SemiBold"/>
              </a:rPr>
              <a:t>3. Sinir Ağlarının Mimarileri</a:t>
            </a:r>
            <a:endParaRPr b="0" i="0" sz="2350" u="none" cap="none" strike="noStrike"/>
          </a:p>
        </p:txBody>
      </p:sp>
      <p:sp>
        <p:nvSpPr>
          <p:cNvPr id="113" name="Google Shape;113;p16"/>
          <p:cNvSpPr/>
          <p:nvPr/>
        </p:nvSpPr>
        <p:spPr>
          <a:xfrm>
            <a:off x="0" y="422175"/>
            <a:ext cx="9144000" cy="309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C9C9C0"/>
              </a:buClr>
              <a:buSzPts val="900"/>
              <a:buFont typeface="Tomorrow"/>
              <a:buNone/>
            </a:pPr>
            <a:r>
              <a:rPr b="0" i="0" lang="tr" sz="900" u="none" cap="none" strike="noStrike">
                <a:solidFill>
                  <a:srgbClr val="C9C9C0"/>
                </a:solidFill>
                <a:latin typeface="Tomorrow"/>
                <a:ea typeface="Tomorrow"/>
                <a:cs typeface="Tomorrow"/>
                <a:sym typeface="Tomorrow"/>
              </a:rPr>
              <a:t>Yapay Sinir Ağları (YSA), beynin işleyişinden esinlenerek oluşturulmuş matematiksel modellerdir. Ancak aşağıda ele alınan modeller biyolojik açıdan gerçekçi modeller sunmayı değil, veri analizi yapmayı amaçlamaktadır.</a:t>
            </a:r>
            <a:endParaRPr b="0" i="0" sz="900" u="none" cap="none" strike="noStrike"/>
          </a:p>
        </p:txBody>
      </p:sp>
      <p:sp>
        <p:nvSpPr>
          <p:cNvPr id="114" name="Google Shape;114;p16"/>
          <p:cNvSpPr/>
          <p:nvPr/>
        </p:nvSpPr>
        <p:spPr>
          <a:xfrm>
            <a:off x="-102323" y="936089"/>
            <a:ext cx="4779900" cy="5343600"/>
          </a:xfrm>
          <a:prstGeom prst="roundRect">
            <a:avLst>
              <a:gd fmla="val 378" name="adj"/>
            </a:avLst>
          </a:prstGeom>
          <a:solidFill>
            <a:srgbClr val="1F1F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6"/>
          <p:cNvSpPr/>
          <p:nvPr/>
        </p:nvSpPr>
        <p:spPr>
          <a:xfrm>
            <a:off x="-15520" y="936089"/>
            <a:ext cx="3025800" cy="188400"/>
          </a:xfrm>
          <a:prstGeom prst="rect">
            <a:avLst/>
          </a:prstGeom>
          <a:noFill/>
          <a:ln>
            <a:noFill/>
          </a:ln>
        </p:spPr>
        <p:txBody>
          <a:bodyPr anchorCtr="0" anchor="t" bIns="0" lIns="0" spcFirstLastPara="1" rIns="0" wrap="square" tIns="0">
            <a:noAutofit/>
          </a:bodyPr>
          <a:lstStyle/>
          <a:p>
            <a:pPr indent="0" lvl="0" marL="0" marR="0" rtl="0" algn="l">
              <a:lnSpc>
                <a:spcPct val="126087"/>
              </a:lnSpc>
              <a:spcBef>
                <a:spcPts val="0"/>
              </a:spcBef>
              <a:spcAft>
                <a:spcPts val="0"/>
              </a:spcAft>
              <a:buClr>
                <a:srgbClr val="EDEDE8"/>
              </a:buClr>
              <a:buSzPts val="1150"/>
              <a:buFont typeface="Tomorrow SemiBold"/>
              <a:buNone/>
            </a:pPr>
            <a:r>
              <a:rPr b="1" i="0" lang="tr" sz="1150" u="none" cap="none" strike="noStrike">
                <a:solidFill>
                  <a:srgbClr val="EDEDE8"/>
                </a:solidFill>
                <a:latin typeface="Tomorrow SemiBold"/>
                <a:ea typeface="Tomorrow SemiBold"/>
                <a:cs typeface="Tomorrow SemiBold"/>
                <a:sym typeface="Tomorrow SemiBold"/>
              </a:rPr>
              <a:t>3.1. Yapay Nöron Modeli</a:t>
            </a:r>
            <a:endParaRPr b="0" i="0" sz="1150" u="none" cap="none" strike="noStrike"/>
          </a:p>
        </p:txBody>
      </p:sp>
      <p:sp>
        <p:nvSpPr>
          <p:cNvPr id="116" name="Google Shape;116;p16"/>
          <p:cNvSpPr/>
          <p:nvPr/>
        </p:nvSpPr>
        <p:spPr>
          <a:xfrm>
            <a:off x="18118" y="1229693"/>
            <a:ext cx="4539000" cy="6201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C9C9C0"/>
              </a:buClr>
              <a:buSzPts val="900"/>
              <a:buFont typeface="Tomorrow"/>
              <a:buNone/>
            </a:pPr>
            <a:r>
              <a:rPr b="0" i="0" lang="tr" sz="900" u="none" cap="none" strike="noStrike">
                <a:solidFill>
                  <a:srgbClr val="C9C9C0"/>
                </a:solidFill>
                <a:latin typeface="Tomorrow"/>
                <a:ea typeface="Tomorrow"/>
                <a:cs typeface="Tomorrow"/>
                <a:sym typeface="Tomorrow"/>
              </a:rPr>
              <a:t>Bir nöron modelinin temel fikri şudur: </a:t>
            </a:r>
            <a:r>
              <a:rPr b="1" i="0" lang="tr" sz="900" u="none" cap="none" strike="noStrike">
                <a:solidFill>
                  <a:srgbClr val="E1E1DF"/>
                </a:solidFill>
                <a:latin typeface="Tomorrow"/>
                <a:ea typeface="Tomorrow"/>
                <a:cs typeface="Tomorrow"/>
                <a:sym typeface="Tomorrow"/>
              </a:rPr>
              <a:t>x</a:t>
            </a:r>
            <a:r>
              <a:rPr b="0" i="0" lang="tr" sz="900" u="none" cap="none" strike="noStrike">
                <a:solidFill>
                  <a:srgbClr val="C9C9C0"/>
                </a:solidFill>
                <a:latin typeface="Tomorrow"/>
                <a:ea typeface="Tomorrow"/>
                <a:cs typeface="Tomorrow"/>
                <a:sym typeface="Tomorrow"/>
              </a:rPr>
              <a:t> girdisi, </a:t>
            </a:r>
            <a:r>
              <a:rPr b="1" i="0" lang="tr" sz="900" u="none" cap="none" strike="noStrike">
                <a:solidFill>
                  <a:srgbClr val="E1E1DF"/>
                </a:solidFill>
                <a:latin typeface="Tomorrow"/>
                <a:ea typeface="Tomorrow"/>
                <a:cs typeface="Tomorrow"/>
                <a:sym typeface="Tomorrow"/>
              </a:rPr>
              <a:t>b</a:t>
            </a:r>
            <a:r>
              <a:rPr b="0" i="0" lang="tr" sz="900" u="none" cap="none" strike="noStrike">
                <a:solidFill>
                  <a:srgbClr val="C9C9C0"/>
                </a:solidFill>
                <a:latin typeface="Tomorrow"/>
                <a:ea typeface="Tomorrow"/>
                <a:cs typeface="Tomorrow"/>
                <a:sym typeface="Tomorrow"/>
              </a:rPr>
              <a:t> yanlılığıyla birlikte </a:t>
            </a:r>
            <a:r>
              <a:rPr b="1" i="0" lang="tr" sz="900" u="none" cap="none" strike="noStrike">
                <a:solidFill>
                  <a:srgbClr val="E1E1DF"/>
                </a:solidFill>
                <a:latin typeface="Tomorrow"/>
                <a:ea typeface="Tomorrow"/>
                <a:cs typeface="Tomorrow"/>
                <a:sym typeface="Tomorrow"/>
              </a:rPr>
              <a:t>w</a:t>
            </a:r>
            <a:r>
              <a:rPr b="0" i="0" lang="tr" sz="900" u="none" cap="none" strike="noStrike">
                <a:solidFill>
                  <a:srgbClr val="C9C9C0"/>
                </a:solidFill>
                <a:latin typeface="Tomorrow"/>
                <a:ea typeface="Tomorrow"/>
                <a:cs typeface="Tomorrow"/>
                <a:sym typeface="Tomorrow"/>
              </a:rPr>
              <a:t> ile ağırlıklandırılır ve ardından toplanır. Bu terimlerin toplamı, yani </a:t>
            </a:r>
            <a:r>
              <a:rPr b="0" i="0" lang="tr" sz="900" u="none" cap="none" strike="noStrike">
                <a:solidFill>
                  <a:srgbClr val="E1E1DF"/>
                </a:solidFill>
                <a:latin typeface="Tomorrow"/>
                <a:ea typeface="Tomorrow"/>
                <a:cs typeface="Tomorrow"/>
                <a:sym typeface="Tomorrow"/>
              </a:rPr>
              <a:t>z = wTx + b</a:t>
            </a:r>
            <a:r>
              <a:rPr b="0" i="0" lang="tr" sz="900" u="none" cap="none" strike="noStrike">
                <a:solidFill>
                  <a:srgbClr val="C9C9C0"/>
                </a:solidFill>
                <a:latin typeface="Tomorrow"/>
                <a:ea typeface="Tomorrow"/>
                <a:cs typeface="Tomorrow"/>
                <a:sym typeface="Tomorrow"/>
              </a:rPr>
              <a:t>, bir aktivasyon fonksiyonunun </a:t>
            </a:r>
            <a:r>
              <a:rPr b="0" i="0" lang="tr" sz="900" u="none" cap="none" strike="noStrike">
                <a:solidFill>
                  <a:srgbClr val="E1E1DF"/>
                </a:solidFill>
                <a:latin typeface="Tomorrow"/>
                <a:ea typeface="Tomorrow"/>
                <a:cs typeface="Tomorrow"/>
                <a:sym typeface="Tomorrow"/>
              </a:rPr>
              <a:t>φ</a:t>
            </a:r>
            <a:r>
              <a:rPr b="0" i="0" lang="tr" sz="900" u="none" cap="none" strike="noStrike">
                <a:solidFill>
                  <a:srgbClr val="C9C9C0"/>
                </a:solidFill>
                <a:latin typeface="Tomorrow"/>
                <a:ea typeface="Tomorrow"/>
                <a:cs typeface="Tomorrow"/>
                <a:sym typeface="Tomorrow"/>
              </a:rPr>
              <a:t> argümanını oluşturur ve nöron modelinin çıktısını verir:</a:t>
            </a:r>
            <a:endParaRPr b="0" i="0" sz="900" u="none" cap="none" strike="noStrike"/>
          </a:p>
        </p:txBody>
      </p:sp>
      <p:sp>
        <p:nvSpPr>
          <p:cNvPr id="117" name="Google Shape;117;p16"/>
          <p:cNvSpPr/>
          <p:nvPr/>
        </p:nvSpPr>
        <p:spPr>
          <a:xfrm>
            <a:off x="18168" y="2041201"/>
            <a:ext cx="4539000" cy="2136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SzPts val="1050"/>
              <a:buFont typeface="Arial"/>
              <a:buNone/>
            </a:pPr>
            <a:r>
              <a:t/>
            </a:r>
            <a:endParaRPr b="0" i="0" sz="1050" u="none" cap="none" strike="noStrike"/>
          </a:p>
        </p:txBody>
      </p:sp>
      <p:pic>
        <p:nvPicPr>
          <p:cNvPr descr="preencoded.png" id="118" name="Google Shape;118;p16"/>
          <p:cNvPicPr preferRelativeResize="0"/>
          <p:nvPr/>
        </p:nvPicPr>
        <p:blipFill rotWithShape="1">
          <a:blip r:embed="rId3">
            <a:alphaModFix/>
          </a:blip>
          <a:srcRect b="0" l="0" r="0" t="0"/>
          <a:stretch/>
        </p:blipFill>
        <p:spPr>
          <a:xfrm>
            <a:off x="18218" y="1902826"/>
            <a:ext cx="4538901" cy="213598"/>
          </a:xfrm>
          <a:prstGeom prst="rect">
            <a:avLst/>
          </a:prstGeom>
          <a:noFill/>
          <a:ln>
            <a:noFill/>
          </a:ln>
        </p:spPr>
      </p:pic>
      <p:sp>
        <p:nvSpPr>
          <p:cNvPr id="119" name="Google Shape;119;p16"/>
          <p:cNvSpPr/>
          <p:nvPr/>
        </p:nvSpPr>
        <p:spPr>
          <a:xfrm>
            <a:off x="18168" y="2169454"/>
            <a:ext cx="4539000" cy="4650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C9C9C0"/>
              </a:buClr>
              <a:buSzPts val="900"/>
              <a:buFont typeface="Tomorrow"/>
              <a:buNone/>
            </a:pPr>
            <a:r>
              <a:rPr b="0" i="0" lang="tr" sz="900" u="none" cap="none" strike="noStrike">
                <a:solidFill>
                  <a:srgbClr val="C9C9C0"/>
                </a:solidFill>
                <a:latin typeface="Tomorrow"/>
                <a:ea typeface="Tomorrow"/>
                <a:cs typeface="Tomorrow"/>
                <a:sym typeface="Tomorrow"/>
              </a:rPr>
              <a:t>ReLU aktivasyon fonksiyonu, derin sinir ağları için en popüler aktivasyon fonksiyonudur. Softmax fonksiyonu ise genellikle bir ağın son katmanında kullanılır.</a:t>
            </a:r>
            <a:endParaRPr b="0" i="0" sz="900" u="none" cap="none" strike="noStrike"/>
          </a:p>
        </p:txBody>
      </p:sp>
      <p:pic>
        <p:nvPicPr>
          <p:cNvPr descr="preencoded.png" id="120" name="Google Shape;120;p16"/>
          <p:cNvPicPr preferRelativeResize="0"/>
          <p:nvPr/>
        </p:nvPicPr>
        <p:blipFill rotWithShape="1">
          <a:blip r:embed="rId4">
            <a:alphaModFix/>
          </a:blip>
          <a:srcRect b="0" l="0" r="0" t="0"/>
          <a:stretch/>
        </p:blipFill>
        <p:spPr>
          <a:xfrm>
            <a:off x="18168" y="2649598"/>
            <a:ext cx="4538901" cy="1239203"/>
          </a:xfrm>
          <a:prstGeom prst="rect">
            <a:avLst/>
          </a:prstGeom>
          <a:noFill/>
          <a:ln>
            <a:noFill/>
          </a:ln>
        </p:spPr>
      </p:pic>
      <p:sp>
        <p:nvSpPr>
          <p:cNvPr id="121" name="Google Shape;121;p16"/>
          <p:cNvSpPr/>
          <p:nvPr/>
        </p:nvSpPr>
        <p:spPr>
          <a:xfrm>
            <a:off x="18228" y="3987074"/>
            <a:ext cx="3313500" cy="213600"/>
          </a:xfrm>
          <a:prstGeom prst="rect">
            <a:avLst/>
          </a:prstGeom>
          <a:noFill/>
          <a:ln>
            <a:noFill/>
          </a:ln>
        </p:spPr>
        <p:txBody>
          <a:bodyPr anchorCtr="0" anchor="t" bIns="0" lIns="0" spcFirstLastPara="1" rIns="0" wrap="square" tIns="0">
            <a:noAutofit/>
          </a:bodyPr>
          <a:lstStyle/>
          <a:p>
            <a:pPr indent="0" lvl="0" marL="0" marR="0" rtl="0" algn="l">
              <a:lnSpc>
                <a:spcPct val="126087"/>
              </a:lnSpc>
              <a:spcBef>
                <a:spcPts val="0"/>
              </a:spcBef>
              <a:spcAft>
                <a:spcPts val="0"/>
              </a:spcAft>
              <a:buClr>
                <a:srgbClr val="EDEDE8"/>
              </a:buClr>
              <a:buSzPts val="1150"/>
              <a:buFont typeface="Tomorrow SemiBold"/>
              <a:buNone/>
            </a:pPr>
            <a:r>
              <a:rPr b="1" i="0" lang="tr" sz="1150" u="none" cap="none" strike="noStrike">
                <a:solidFill>
                  <a:srgbClr val="EDEDE8"/>
                </a:solidFill>
                <a:latin typeface="Tomorrow SemiBold"/>
                <a:ea typeface="Tomorrow SemiBold"/>
                <a:cs typeface="Tomorrow SemiBold"/>
                <a:sym typeface="Tomorrow SemiBold"/>
              </a:rPr>
              <a:t>3.2. İleri Beslemeli Sinir Ağları</a:t>
            </a:r>
            <a:endParaRPr b="0" i="0" sz="1150" u="none" cap="none" strike="noStrike"/>
          </a:p>
        </p:txBody>
      </p:sp>
      <p:sp>
        <p:nvSpPr>
          <p:cNvPr id="122" name="Google Shape;122;p16"/>
          <p:cNvSpPr/>
          <p:nvPr/>
        </p:nvSpPr>
        <p:spPr>
          <a:xfrm>
            <a:off x="-15432" y="4283593"/>
            <a:ext cx="4606200" cy="7752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C9C9C0"/>
              </a:buClr>
              <a:buSzPts val="900"/>
              <a:buFont typeface="Tomorrow"/>
              <a:buNone/>
            </a:pPr>
            <a:r>
              <a:rPr b="0" i="0" lang="tr" sz="900" u="none" cap="none" strike="noStrike">
                <a:solidFill>
                  <a:srgbClr val="C9C9C0"/>
                </a:solidFill>
                <a:latin typeface="Tomorrow"/>
                <a:ea typeface="Tomorrow"/>
                <a:cs typeface="Tomorrow"/>
                <a:sym typeface="Tomorrow"/>
              </a:rPr>
              <a:t>Sinir ağları oluşturmak için nöronların birbirine bağlanması gerekir. En basit mimari ileri beslemeli yapıdır. Bir ağın </a:t>
            </a:r>
            <a:r>
              <a:rPr b="1" i="0" lang="tr" sz="900" u="none" cap="none" strike="noStrike">
                <a:solidFill>
                  <a:srgbClr val="C9C9C0"/>
                </a:solidFill>
                <a:latin typeface="Tomorrow"/>
                <a:ea typeface="Tomorrow"/>
                <a:cs typeface="Tomorrow"/>
                <a:sym typeface="Tomorrow"/>
              </a:rPr>
              <a:t>derinliği</a:t>
            </a:r>
            <a:r>
              <a:rPr b="0" i="0" lang="tr" sz="900" u="none" cap="none" strike="noStrike">
                <a:solidFill>
                  <a:srgbClr val="C9C9C0"/>
                </a:solidFill>
                <a:latin typeface="Tomorrow"/>
                <a:ea typeface="Tomorrow"/>
                <a:cs typeface="Tomorrow"/>
                <a:sym typeface="Tomorrow"/>
              </a:rPr>
              <a:t>, ayırıcı katmanlar arasındaki doğrusal olmayan dönüşümlerin sayısını; </a:t>
            </a:r>
            <a:r>
              <a:rPr b="1" i="0" lang="tr" sz="900" u="none" cap="none" strike="noStrike">
                <a:solidFill>
                  <a:srgbClr val="C9C9C0"/>
                </a:solidFill>
                <a:latin typeface="Tomorrow"/>
                <a:ea typeface="Tomorrow"/>
                <a:cs typeface="Tomorrow"/>
                <a:sym typeface="Tomorrow"/>
              </a:rPr>
              <a:t>genişliği</a:t>
            </a:r>
            <a:r>
              <a:rPr b="0" i="0" lang="tr" sz="900" u="none" cap="none" strike="noStrike">
                <a:solidFill>
                  <a:srgbClr val="C9C9C0"/>
                </a:solidFill>
                <a:latin typeface="Tomorrow"/>
                <a:ea typeface="Tomorrow"/>
                <a:cs typeface="Tomorrow"/>
                <a:sym typeface="Tomorrow"/>
              </a:rPr>
              <a:t> ise gizli katmanın boyutunu ifade eder. İkiden fazla gizli katmana sahip mimariler genellikle derin olarak kabul edilir.</a:t>
            </a:r>
            <a:endParaRPr b="0" i="0" sz="900" u="none" cap="none" strike="noStrike"/>
          </a:p>
        </p:txBody>
      </p:sp>
      <p:pic>
        <p:nvPicPr>
          <p:cNvPr descr="preencoded.png" id="123" name="Google Shape;123;p16"/>
          <p:cNvPicPr preferRelativeResize="0"/>
          <p:nvPr/>
        </p:nvPicPr>
        <p:blipFill rotWithShape="1">
          <a:blip r:embed="rId5">
            <a:alphaModFix/>
          </a:blip>
          <a:srcRect b="0" l="0" r="0" t="0"/>
          <a:stretch/>
        </p:blipFill>
        <p:spPr>
          <a:xfrm>
            <a:off x="4677575" y="936100"/>
            <a:ext cx="4151274" cy="1417488"/>
          </a:xfrm>
          <a:prstGeom prst="rect">
            <a:avLst/>
          </a:prstGeom>
          <a:noFill/>
          <a:ln>
            <a:noFill/>
          </a:ln>
        </p:spPr>
      </p:pic>
      <p:sp>
        <p:nvSpPr>
          <p:cNvPr id="124" name="Google Shape;124;p16"/>
          <p:cNvSpPr/>
          <p:nvPr/>
        </p:nvSpPr>
        <p:spPr>
          <a:xfrm>
            <a:off x="4677576" y="2461461"/>
            <a:ext cx="3751500" cy="213600"/>
          </a:xfrm>
          <a:prstGeom prst="rect">
            <a:avLst/>
          </a:prstGeom>
          <a:noFill/>
          <a:ln>
            <a:noFill/>
          </a:ln>
        </p:spPr>
        <p:txBody>
          <a:bodyPr anchorCtr="0" anchor="t" bIns="0" lIns="0" spcFirstLastPara="1" rIns="0" wrap="square" tIns="0">
            <a:noAutofit/>
          </a:bodyPr>
          <a:lstStyle/>
          <a:p>
            <a:pPr indent="0" lvl="0" marL="0" marR="0" rtl="0" algn="l">
              <a:lnSpc>
                <a:spcPct val="126087"/>
              </a:lnSpc>
              <a:spcBef>
                <a:spcPts val="0"/>
              </a:spcBef>
              <a:spcAft>
                <a:spcPts val="0"/>
              </a:spcAft>
              <a:buClr>
                <a:srgbClr val="EDEDE8"/>
              </a:buClr>
              <a:buSzPts val="1150"/>
              <a:buFont typeface="Tomorrow SemiBold"/>
              <a:buNone/>
            </a:pPr>
            <a:r>
              <a:rPr b="1" i="0" lang="tr" sz="1150" u="none" cap="none" strike="noStrike">
                <a:solidFill>
                  <a:srgbClr val="EDEDE8"/>
                </a:solidFill>
                <a:latin typeface="Tomorrow SemiBold"/>
                <a:ea typeface="Tomorrow SemiBold"/>
                <a:cs typeface="Tomorrow SemiBold"/>
                <a:sym typeface="Tomorrow SemiBold"/>
              </a:rPr>
              <a:t>3.3. Yinelemeli Sinir Ağları ve Hopfield Ağları</a:t>
            </a:r>
            <a:endParaRPr b="0" i="0" sz="1150" u="none" cap="none" strike="noStrike"/>
          </a:p>
        </p:txBody>
      </p:sp>
      <p:sp>
        <p:nvSpPr>
          <p:cNvPr id="125" name="Google Shape;125;p16"/>
          <p:cNvSpPr/>
          <p:nvPr/>
        </p:nvSpPr>
        <p:spPr>
          <a:xfrm>
            <a:off x="4677574" y="2649599"/>
            <a:ext cx="4151400" cy="6630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C9C9C0"/>
              </a:buClr>
              <a:buSzPts val="900"/>
              <a:buFont typeface="Tomorrow"/>
              <a:buNone/>
            </a:pPr>
            <a:r>
              <a:rPr b="0" i="0" lang="tr" sz="900" u="none" cap="none" strike="noStrike">
                <a:solidFill>
                  <a:srgbClr val="C9C9C0"/>
                </a:solidFill>
                <a:latin typeface="Tomorrow"/>
                <a:ea typeface="Tomorrow"/>
                <a:cs typeface="Tomorrow"/>
                <a:sym typeface="Tomorrow"/>
              </a:rPr>
              <a:t>Yinelemeli Sinir Ağı (RNN) modelleri ailesi iki alt sınıfa ayrılır: sonlu dürtü yinelemeli ağlar (FIRN) ve sonsuz dürtü yinelemeli ağlar (IIRN). Bir Hopfield Ağı (HN), McCulloch-Pitts nöronlarından oluşan tam bağlantılı bir ağ olarak tanımlanan FIRN'e bir örnektir. Boltzmann Makinesi ise gizli birimleri kullanan ilk sinir ağlarından biri olması nedeniyle önemlidir.</a:t>
            </a:r>
            <a:endParaRPr b="0" i="0" sz="900" u="none" cap="none" strike="noStrike"/>
          </a:p>
        </p:txBody>
      </p:sp>
      <p:sp>
        <p:nvSpPr>
          <p:cNvPr id="126" name="Google Shape;126;p16"/>
          <p:cNvSpPr/>
          <p:nvPr/>
        </p:nvSpPr>
        <p:spPr>
          <a:xfrm>
            <a:off x="4677577" y="3888798"/>
            <a:ext cx="3313500" cy="213600"/>
          </a:xfrm>
          <a:prstGeom prst="rect">
            <a:avLst/>
          </a:prstGeom>
          <a:noFill/>
          <a:ln>
            <a:noFill/>
          </a:ln>
        </p:spPr>
        <p:txBody>
          <a:bodyPr anchorCtr="0" anchor="t" bIns="0" lIns="0" spcFirstLastPara="1" rIns="0" wrap="square" tIns="0">
            <a:noAutofit/>
          </a:bodyPr>
          <a:lstStyle/>
          <a:p>
            <a:pPr indent="0" lvl="0" marL="0" marR="0" rtl="0" algn="l">
              <a:lnSpc>
                <a:spcPct val="126087"/>
              </a:lnSpc>
              <a:spcBef>
                <a:spcPts val="0"/>
              </a:spcBef>
              <a:spcAft>
                <a:spcPts val="0"/>
              </a:spcAft>
              <a:buClr>
                <a:srgbClr val="EDEDE8"/>
              </a:buClr>
              <a:buSzPts val="1150"/>
              <a:buFont typeface="Tomorrow SemiBold"/>
              <a:buNone/>
            </a:pPr>
            <a:r>
              <a:rPr b="1" i="0" lang="tr" sz="1150" u="none" cap="none" strike="noStrike">
                <a:solidFill>
                  <a:srgbClr val="EDEDE8"/>
                </a:solidFill>
                <a:latin typeface="Tomorrow SemiBold"/>
                <a:ea typeface="Tomorrow SemiBold"/>
                <a:cs typeface="Tomorrow SemiBold"/>
                <a:sym typeface="Tomorrow SemiBold"/>
              </a:rPr>
              <a:t>3.4. Ağ Mimarilerine Genel Bakış</a:t>
            </a:r>
            <a:endParaRPr b="0" i="0" sz="1150" u="none" cap="none" strike="noStrike"/>
          </a:p>
        </p:txBody>
      </p:sp>
      <p:sp>
        <p:nvSpPr>
          <p:cNvPr id="127" name="Google Shape;127;p16"/>
          <p:cNvSpPr/>
          <p:nvPr/>
        </p:nvSpPr>
        <p:spPr>
          <a:xfrm>
            <a:off x="4677568" y="4348064"/>
            <a:ext cx="4606200" cy="4650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C9C9C0"/>
              </a:buClr>
              <a:buSzPts val="900"/>
              <a:buFont typeface="Tomorrow"/>
              <a:buNone/>
            </a:pPr>
            <a:r>
              <a:rPr b="0" i="0" lang="tr" sz="900" u="none" cap="none" strike="noStrike">
                <a:solidFill>
                  <a:srgbClr val="C9C9C0"/>
                </a:solidFill>
                <a:latin typeface="Tomorrow"/>
                <a:ea typeface="Tomorrow"/>
                <a:cs typeface="Tomorrow"/>
                <a:sym typeface="Tomorrow"/>
              </a:rPr>
              <a:t>Derin öğrenme modellerinde kullanılan çok çeşitli ağ mimarileri mevcuttur. Bazı modeller diğer ağlardan oluşmaktadır; örneğin CDBN'ler RBM ve CNN'lere dayanırken, DBN'ler RBM ve MLP'lere dayanmaktadır.</a:t>
            </a:r>
            <a:endParaRPr b="0" i="0" sz="90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7"/>
          <p:cNvSpPr/>
          <p:nvPr/>
        </p:nvSpPr>
        <p:spPr>
          <a:xfrm>
            <a:off x="265476" y="165750"/>
            <a:ext cx="6572700" cy="374100"/>
          </a:xfrm>
          <a:prstGeom prst="rect">
            <a:avLst/>
          </a:prstGeom>
          <a:noFill/>
          <a:ln>
            <a:noFill/>
          </a:ln>
        </p:spPr>
        <p:txBody>
          <a:bodyPr anchorCtr="0" anchor="t" bIns="0" lIns="0" spcFirstLastPara="1" rIns="0" wrap="square" tIns="0">
            <a:noAutofit/>
          </a:bodyPr>
          <a:lstStyle/>
          <a:p>
            <a:pPr indent="0" lvl="0" marL="0" marR="0" rtl="0" algn="l">
              <a:lnSpc>
                <a:spcPct val="123880"/>
              </a:lnSpc>
              <a:spcBef>
                <a:spcPts val="0"/>
              </a:spcBef>
              <a:spcAft>
                <a:spcPts val="0"/>
              </a:spcAft>
              <a:buClr>
                <a:srgbClr val="EDEDE8"/>
              </a:buClr>
              <a:buSzPts val="2192"/>
              <a:buFont typeface="Tomorrow SemiBold"/>
              <a:buNone/>
            </a:pPr>
            <a:r>
              <a:rPr b="1" i="0" lang="tr" sz="2192" u="none" cap="none" strike="noStrike">
                <a:solidFill>
                  <a:srgbClr val="EDEDE8"/>
                </a:solidFill>
                <a:latin typeface="Tomorrow SemiBold"/>
                <a:ea typeface="Tomorrow SemiBold"/>
                <a:cs typeface="Tomorrow SemiBold"/>
                <a:sym typeface="Tomorrow SemiBold"/>
              </a:rPr>
              <a:t>4. Derin İleri Beslemeli Sinir Ağları</a:t>
            </a:r>
            <a:endParaRPr b="0" i="0" sz="2192" u="none" cap="none" strike="noStrike"/>
          </a:p>
        </p:txBody>
      </p:sp>
      <p:sp>
        <p:nvSpPr>
          <p:cNvPr id="133" name="Google Shape;133;p17"/>
          <p:cNvSpPr/>
          <p:nvPr/>
        </p:nvSpPr>
        <p:spPr>
          <a:xfrm>
            <a:off x="-2" y="539860"/>
            <a:ext cx="8682000" cy="4971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C9C9C0"/>
              </a:buClr>
              <a:buSzPts val="851"/>
              <a:buFont typeface="Tomorrow"/>
              <a:buNone/>
            </a:pPr>
            <a:r>
              <a:rPr b="0" i="0" lang="tr" sz="1050" u="none" cap="none" strike="noStrike">
                <a:solidFill>
                  <a:srgbClr val="C9C9C0"/>
                </a:solidFill>
                <a:latin typeface="Tomorrow"/>
                <a:ea typeface="Tomorrow"/>
                <a:cs typeface="Tomorrow"/>
                <a:sym typeface="Tomorrow"/>
              </a:rPr>
              <a:t>Bir gizli katmana ve sonlu sayıda nörona sahip bir İleri Beslemeli Sinir Ağının, </a:t>
            </a:r>
            <a:r>
              <a:rPr b="0" i="1" lang="tr" sz="1050" u="none" cap="none" strike="noStrike">
                <a:solidFill>
                  <a:srgbClr val="C9C9C0"/>
                </a:solidFill>
                <a:latin typeface="Tomorrow"/>
                <a:ea typeface="Tomorrow"/>
                <a:cs typeface="Tomorrow"/>
                <a:sym typeface="Tomorrow"/>
              </a:rPr>
              <a:t>\mathbb{R}^n</a:t>
            </a:r>
            <a:r>
              <a:rPr b="0" i="0" lang="tr" sz="1050" u="none" cap="none" strike="noStrike">
                <a:solidFill>
                  <a:srgbClr val="C9C9C0"/>
                </a:solidFill>
                <a:latin typeface="Tomorrow"/>
                <a:ea typeface="Tomorrow"/>
                <a:cs typeface="Tomorrow"/>
                <a:sym typeface="Tomorrow"/>
              </a:rPr>
              <a:t>'nin kompakt bir alt kümesindeki herhangi bir sürekli fonksiyonu yaklaşık olarak hesaplayabileceği kanıtlanabilir (Hornik, 1991). Buna </a:t>
            </a:r>
            <a:r>
              <a:rPr b="1" i="0" lang="tr" sz="1050" u="none" cap="none" strike="noStrike">
                <a:solidFill>
                  <a:srgbClr val="C9C9C0"/>
                </a:solidFill>
                <a:latin typeface="Tomorrow"/>
                <a:ea typeface="Tomorrow"/>
                <a:cs typeface="Tomorrow"/>
                <a:sym typeface="Tomorrow"/>
              </a:rPr>
              <a:t>evrensel yaklaşım teoremi</a:t>
            </a:r>
            <a:r>
              <a:rPr b="0" i="0" lang="tr" sz="1050" u="none" cap="none" strike="noStrike">
                <a:solidFill>
                  <a:srgbClr val="C9C9C0"/>
                </a:solidFill>
                <a:latin typeface="Tomorrow"/>
                <a:ea typeface="Tomorrow"/>
                <a:cs typeface="Tomorrow"/>
                <a:sym typeface="Tomorrow"/>
              </a:rPr>
              <a:t> denir. Birden fazla gizli katmana sahip bir FFNN kullanmanın nedeni, evrensel yaklaşım teoreminin böyle bir ağın nasıl öğrenileceğine dair bilgi vermemesidir; bu da son derece zor olduğu ortaya çıkmıştır.</a:t>
            </a:r>
            <a:endParaRPr b="0" i="0" sz="1050" u="none" cap="none" strike="noStrike"/>
          </a:p>
        </p:txBody>
      </p:sp>
      <p:sp>
        <p:nvSpPr>
          <p:cNvPr id="134" name="Google Shape;134;p17"/>
          <p:cNvSpPr/>
          <p:nvPr/>
        </p:nvSpPr>
        <p:spPr>
          <a:xfrm>
            <a:off x="110625" y="1477180"/>
            <a:ext cx="1635600" cy="286200"/>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EDEDE8"/>
              </a:buClr>
              <a:buSzPts val="1080"/>
              <a:buFont typeface="Tomorrow SemiBold"/>
              <a:buNone/>
            </a:pPr>
            <a:r>
              <a:rPr b="1" i="0" lang="tr" sz="1379" u="none" cap="none" strike="noStrike">
                <a:solidFill>
                  <a:srgbClr val="EDEDE8"/>
                </a:solidFill>
                <a:latin typeface="Tomorrow SemiBold"/>
                <a:ea typeface="Tomorrow SemiBold"/>
                <a:cs typeface="Tomorrow SemiBold"/>
                <a:sym typeface="Tomorrow SemiBold"/>
              </a:rPr>
              <a:t>Teorik Temel</a:t>
            </a:r>
            <a:endParaRPr b="0" i="0" sz="1379" u="none" cap="none" strike="noStrike"/>
          </a:p>
        </p:txBody>
      </p:sp>
      <p:sp>
        <p:nvSpPr>
          <p:cNvPr id="135" name="Google Shape;135;p17"/>
          <p:cNvSpPr/>
          <p:nvPr/>
        </p:nvSpPr>
        <p:spPr>
          <a:xfrm>
            <a:off x="55350" y="1919019"/>
            <a:ext cx="4094400" cy="597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C9C9C0"/>
              </a:buClr>
              <a:buSzPts val="851"/>
              <a:buFont typeface="Tomorrow"/>
              <a:buNone/>
            </a:pPr>
            <a:r>
              <a:rPr b="0" i="0" lang="tr" sz="1050" u="none" cap="none" strike="noStrike">
                <a:solidFill>
                  <a:srgbClr val="C9C9C0"/>
                </a:solidFill>
                <a:latin typeface="Tomorrow"/>
                <a:ea typeface="Tomorrow"/>
                <a:cs typeface="Tomorrow"/>
                <a:sym typeface="Tomorrow"/>
              </a:rPr>
              <a:t>Bilinmeyen bir </a:t>
            </a:r>
            <a:r>
              <a:rPr b="0" i="1" lang="tr" sz="1050" u="none" cap="none" strike="noStrike">
                <a:solidFill>
                  <a:srgbClr val="C9C9C0"/>
                </a:solidFill>
                <a:latin typeface="Tomorrow"/>
                <a:ea typeface="Tomorrow"/>
                <a:cs typeface="Tomorrow"/>
                <a:sym typeface="Tomorrow"/>
              </a:rPr>
              <a:t>f^*</a:t>
            </a:r>
            <a:r>
              <a:rPr b="0" i="0" lang="tr" sz="1050" u="none" cap="none" strike="noStrike">
                <a:solidFill>
                  <a:srgbClr val="C9C9C0"/>
                </a:solidFill>
                <a:latin typeface="Tomorrow"/>
                <a:ea typeface="Tomorrow"/>
                <a:cs typeface="Tomorrow"/>
                <a:sym typeface="Tomorrow"/>
              </a:rPr>
              <a:t> fonksiyonunu yaklaşık olarak hesaplama fikri şu şekilde yazılabilir:</a:t>
            </a:r>
            <a:endParaRPr b="0" i="0" sz="1050" u="none" cap="none" strike="noStrike"/>
          </a:p>
        </p:txBody>
      </p:sp>
      <p:sp>
        <p:nvSpPr>
          <p:cNvPr id="136" name="Google Shape;136;p17"/>
          <p:cNvSpPr/>
          <p:nvPr/>
        </p:nvSpPr>
        <p:spPr>
          <a:xfrm>
            <a:off x="-2" y="1853205"/>
            <a:ext cx="4205100" cy="197100"/>
          </a:xfrm>
          <a:prstGeom prst="rect">
            <a:avLst/>
          </a:prstGeom>
          <a:noFill/>
          <a:ln>
            <a:noFill/>
          </a:ln>
        </p:spPr>
        <p:txBody>
          <a:bodyPr anchorCtr="0" anchor="t" bIns="0" lIns="0" spcFirstLastPara="1" rIns="0" wrap="square" tIns="0">
            <a:noAutofit/>
          </a:bodyPr>
          <a:lstStyle/>
          <a:p>
            <a:pPr indent="0" lvl="0" marL="0" marR="0" rtl="0" algn="l">
              <a:lnSpc>
                <a:spcPct val="146666"/>
              </a:lnSpc>
              <a:spcBef>
                <a:spcPts val="0"/>
              </a:spcBef>
              <a:spcAft>
                <a:spcPts val="0"/>
              </a:spcAft>
              <a:buSzPts val="982"/>
              <a:buFont typeface="Arial"/>
              <a:buNone/>
            </a:pPr>
            <a:r>
              <a:t/>
            </a:r>
            <a:endParaRPr b="0" i="0" sz="981" u="none" cap="none" strike="noStrike"/>
          </a:p>
        </p:txBody>
      </p:sp>
      <p:pic>
        <p:nvPicPr>
          <p:cNvPr descr="preencoded.png" id="137" name="Google Shape;137;p17"/>
          <p:cNvPicPr preferRelativeResize="0"/>
          <p:nvPr/>
        </p:nvPicPr>
        <p:blipFill rotWithShape="1">
          <a:blip r:embed="rId3">
            <a:alphaModFix/>
          </a:blip>
          <a:srcRect b="0" l="0" r="0" t="0"/>
          <a:stretch/>
        </p:blipFill>
        <p:spPr>
          <a:xfrm>
            <a:off x="-475625" y="2516025"/>
            <a:ext cx="4866221" cy="331200"/>
          </a:xfrm>
          <a:prstGeom prst="rect">
            <a:avLst/>
          </a:prstGeom>
          <a:noFill/>
          <a:ln>
            <a:noFill/>
          </a:ln>
        </p:spPr>
      </p:pic>
      <p:sp>
        <p:nvSpPr>
          <p:cNvPr id="138" name="Google Shape;138;p17"/>
          <p:cNvSpPr/>
          <p:nvPr/>
        </p:nvSpPr>
        <p:spPr>
          <a:xfrm>
            <a:off x="55348" y="2936887"/>
            <a:ext cx="4205100" cy="4971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C9C9C0"/>
              </a:buClr>
              <a:buSzPts val="851"/>
              <a:buFont typeface="Tomorrow"/>
              <a:buNone/>
            </a:pPr>
            <a:r>
              <a:rPr b="0" i="0" lang="tr" sz="950" u="none" cap="none" strike="noStrike">
                <a:solidFill>
                  <a:srgbClr val="C9C9C0"/>
                </a:solidFill>
                <a:latin typeface="Tomorrow"/>
                <a:ea typeface="Tomorrow"/>
                <a:cs typeface="Tomorrow"/>
                <a:sym typeface="Tomorrow"/>
              </a:rPr>
              <a:t>Burada </a:t>
            </a:r>
            <a:r>
              <a:rPr b="0" i="1" lang="tr" sz="950" u="none" cap="none" strike="noStrike">
                <a:solidFill>
                  <a:srgbClr val="C9C9C0"/>
                </a:solidFill>
                <a:latin typeface="Tomorrow"/>
                <a:ea typeface="Tomorrow"/>
                <a:cs typeface="Tomorrow"/>
                <a:sym typeface="Tomorrow"/>
              </a:rPr>
              <a:t>f</a:t>
            </a:r>
            <a:r>
              <a:rPr b="0" i="0" lang="tr" sz="950" u="none" cap="none" strike="noStrike">
                <a:solidFill>
                  <a:srgbClr val="C9C9C0"/>
                </a:solidFill>
                <a:latin typeface="Tomorrow"/>
                <a:ea typeface="Tomorrow"/>
                <a:cs typeface="Tomorrow"/>
                <a:sym typeface="Tomorrow"/>
              </a:rPr>
              <a:t>, parametrelere bağlı belirli bir aileden bir fonksiyondur ve </a:t>
            </a:r>
            <a:r>
              <a:rPr b="0" i="1" lang="tr" sz="950" u="none" cap="none" strike="noStrike">
                <a:solidFill>
                  <a:srgbClr val="C9C9C0"/>
                </a:solidFill>
                <a:latin typeface="Tomorrow"/>
                <a:ea typeface="Tomorrow"/>
                <a:cs typeface="Tomorrow"/>
                <a:sym typeface="Tomorrow"/>
              </a:rPr>
              <a:t>\phi</a:t>
            </a:r>
            <a:r>
              <a:rPr b="0" i="0" lang="tr" sz="950" u="none" cap="none" strike="noStrike">
                <a:solidFill>
                  <a:srgbClr val="C9C9C0"/>
                </a:solidFill>
                <a:latin typeface="Tomorrow"/>
                <a:ea typeface="Tomorrow"/>
                <a:cs typeface="Tomorrow"/>
                <a:sym typeface="Tomorrow"/>
              </a:rPr>
              <a:t>, tek katmanlı doğrusal olmayan bir aktivasyon fonksiyonudur. Çok sayıda gizli katman için </a:t>
            </a:r>
            <a:r>
              <a:rPr b="0" i="1" lang="tr" sz="950" u="none" cap="none" strike="noStrike">
                <a:solidFill>
                  <a:srgbClr val="C9C9C0"/>
                </a:solidFill>
                <a:latin typeface="Tomorrow"/>
                <a:ea typeface="Tomorrow"/>
                <a:cs typeface="Tomorrow"/>
                <a:sym typeface="Tomorrow"/>
              </a:rPr>
              <a:t>\phi</a:t>
            </a:r>
            <a:r>
              <a:rPr b="0" i="0" lang="tr" sz="950" u="none" cap="none" strike="noStrike">
                <a:solidFill>
                  <a:srgbClr val="C9C9C0"/>
                </a:solidFill>
                <a:latin typeface="Tomorrow"/>
                <a:ea typeface="Tomorrow"/>
                <a:cs typeface="Tomorrow"/>
                <a:sym typeface="Tomorrow"/>
              </a:rPr>
              <a:t> şu biçimi alır:</a:t>
            </a:r>
            <a:endParaRPr b="0" i="0" sz="950" u="none" cap="none" strike="noStrike"/>
          </a:p>
        </p:txBody>
      </p:sp>
      <p:sp>
        <p:nvSpPr>
          <p:cNvPr id="139" name="Google Shape;139;p17"/>
          <p:cNvSpPr/>
          <p:nvPr/>
        </p:nvSpPr>
        <p:spPr>
          <a:xfrm>
            <a:off x="-199102" y="2626543"/>
            <a:ext cx="4205100" cy="199800"/>
          </a:xfrm>
          <a:prstGeom prst="rect">
            <a:avLst/>
          </a:prstGeom>
          <a:noFill/>
          <a:ln>
            <a:noFill/>
          </a:ln>
        </p:spPr>
        <p:txBody>
          <a:bodyPr anchorCtr="0" anchor="t" bIns="0" lIns="0" spcFirstLastPara="1" rIns="0" wrap="square" tIns="0">
            <a:noAutofit/>
          </a:bodyPr>
          <a:lstStyle/>
          <a:p>
            <a:pPr indent="0" lvl="0" marL="0" marR="0" rtl="0" algn="l">
              <a:lnSpc>
                <a:spcPct val="146666"/>
              </a:lnSpc>
              <a:spcBef>
                <a:spcPts val="0"/>
              </a:spcBef>
              <a:spcAft>
                <a:spcPts val="0"/>
              </a:spcAft>
              <a:buSzPts val="982"/>
              <a:buFont typeface="Arial"/>
              <a:buNone/>
            </a:pPr>
            <a:r>
              <a:t/>
            </a:r>
            <a:endParaRPr b="0" i="0" sz="981" u="none" cap="none" strike="noStrike"/>
          </a:p>
        </p:txBody>
      </p:sp>
      <p:pic>
        <p:nvPicPr>
          <p:cNvPr descr="preencoded.png" id="140" name="Google Shape;140;p17"/>
          <p:cNvPicPr preferRelativeResize="0"/>
          <p:nvPr/>
        </p:nvPicPr>
        <p:blipFill rotWithShape="1">
          <a:blip r:embed="rId4">
            <a:alphaModFix/>
          </a:blip>
          <a:srcRect b="0" l="0" r="0" t="0"/>
          <a:stretch/>
        </p:blipFill>
        <p:spPr>
          <a:xfrm>
            <a:off x="-145037" y="3689525"/>
            <a:ext cx="4205049" cy="331200"/>
          </a:xfrm>
          <a:prstGeom prst="rect">
            <a:avLst/>
          </a:prstGeom>
          <a:noFill/>
          <a:ln>
            <a:noFill/>
          </a:ln>
        </p:spPr>
      </p:pic>
      <p:sp>
        <p:nvSpPr>
          <p:cNvPr id="141" name="Google Shape;141;p17"/>
          <p:cNvSpPr/>
          <p:nvPr/>
        </p:nvSpPr>
        <p:spPr>
          <a:xfrm>
            <a:off x="55348" y="4218052"/>
            <a:ext cx="4205100" cy="331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C9C9C0"/>
              </a:buClr>
              <a:buSzPts val="851"/>
              <a:buFont typeface="Tomorrow"/>
              <a:buNone/>
            </a:pPr>
            <a:r>
              <a:rPr b="0" i="0" lang="tr" sz="950" u="none" cap="none" strike="noStrike">
                <a:solidFill>
                  <a:srgbClr val="C9C9C0"/>
                </a:solidFill>
                <a:latin typeface="Tomorrow"/>
                <a:ea typeface="Tomorrow"/>
                <a:cs typeface="Tomorrow"/>
                <a:sym typeface="Tomorrow"/>
              </a:rPr>
              <a:t>D-FFNN'ler, doğru fonksiyon ailesini </a:t>
            </a:r>
            <a:r>
              <a:rPr b="0" i="1" lang="tr" sz="950" u="none" cap="none" strike="noStrike">
                <a:solidFill>
                  <a:srgbClr val="C9C9C0"/>
                </a:solidFill>
                <a:latin typeface="Tomorrow"/>
                <a:ea typeface="Tomorrow"/>
                <a:cs typeface="Tomorrow"/>
                <a:sym typeface="Tomorrow"/>
              </a:rPr>
              <a:t>tahmin etmek</a:t>
            </a:r>
            <a:r>
              <a:rPr b="0" i="0" lang="tr" sz="950" u="none" cap="none" strike="noStrike">
                <a:solidFill>
                  <a:srgbClr val="C9C9C0"/>
                </a:solidFill>
                <a:latin typeface="Tomorrow"/>
                <a:ea typeface="Tomorrow"/>
                <a:cs typeface="Tomorrow"/>
                <a:sym typeface="Tomorrow"/>
              </a:rPr>
              <a:t> yerine bu fonksiyonu </a:t>
            </a:r>
            <a:r>
              <a:rPr b="0" i="1" lang="tr" sz="950" u="none" cap="none" strike="noStrike">
                <a:solidFill>
                  <a:srgbClr val="C9C9C0"/>
                </a:solidFill>
                <a:latin typeface="Tomorrow"/>
                <a:ea typeface="Tomorrow"/>
                <a:cs typeface="Tomorrow"/>
                <a:sym typeface="Tomorrow"/>
              </a:rPr>
              <a:t>n</a:t>
            </a:r>
            <a:r>
              <a:rPr b="0" i="0" lang="tr" sz="950" u="none" cap="none" strike="noStrike">
                <a:solidFill>
                  <a:srgbClr val="C9C9C0"/>
                </a:solidFill>
                <a:latin typeface="Tomorrow"/>
                <a:ea typeface="Tomorrow"/>
                <a:cs typeface="Tomorrow"/>
                <a:sym typeface="Tomorrow"/>
              </a:rPr>
              <a:t> gizli katman tarafından yaklaşık olarak hesaplanan </a:t>
            </a:r>
            <a:r>
              <a:rPr b="0" i="1" lang="tr" sz="950" u="none" cap="none" strike="noStrike">
                <a:solidFill>
                  <a:srgbClr val="C9C9C0"/>
                </a:solidFill>
                <a:latin typeface="Tomorrow"/>
                <a:ea typeface="Tomorrow"/>
                <a:cs typeface="Tomorrow"/>
                <a:sym typeface="Tomorrow"/>
              </a:rPr>
              <a:t>\phi</a:t>
            </a:r>
            <a:r>
              <a:rPr b="0" i="0" lang="tr" sz="950" u="none" cap="none" strike="noStrike">
                <a:solidFill>
                  <a:srgbClr val="C9C9C0"/>
                </a:solidFill>
                <a:latin typeface="Tomorrow"/>
                <a:ea typeface="Tomorrow"/>
                <a:cs typeface="Tomorrow"/>
                <a:sym typeface="Tomorrow"/>
              </a:rPr>
              <a:t> aracılığıyla öğrenir.</a:t>
            </a:r>
            <a:endParaRPr b="0" i="0" sz="950" u="none" cap="none" strike="noStrike"/>
          </a:p>
        </p:txBody>
      </p:sp>
      <p:sp>
        <p:nvSpPr>
          <p:cNvPr id="142" name="Google Shape;142;p17"/>
          <p:cNvSpPr/>
          <p:nvPr/>
        </p:nvSpPr>
        <p:spPr>
          <a:xfrm>
            <a:off x="4683501" y="1501599"/>
            <a:ext cx="1635600" cy="199800"/>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EDEDE8"/>
              </a:buClr>
              <a:buSzPts val="1080"/>
              <a:buFont typeface="Tomorrow SemiBold"/>
              <a:buNone/>
            </a:pPr>
            <a:r>
              <a:rPr b="1" i="0" lang="tr" sz="1279" u="none" cap="none" strike="noStrike">
                <a:solidFill>
                  <a:srgbClr val="EDEDE8"/>
                </a:solidFill>
                <a:latin typeface="Tomorrow SemiBold"/>
                <a:ea typeface="Tomorrow SemiBold"/>
                <a:cs typeface="Tomorrow SemiBold"/>
                <a:sym typeface="Tomorrow SemiBold"/>
              </a:rPr>
              <a:t>Pratik Öğrenme</a:t>
            </a:r>
            <a:endParaRPr b="0" i="0" sz="1279" u="none" cap="none" strike="noStrike"/>
          </a:p>
        </p:txBody>
      </p:sp>
      <p:sp>
        <p:nvSpPr>
          <p:cNvPr id="143" name="Google Shape;143;p17"/>
          <p:cNvSpPr/>
          <p:nvPr/>
        </p:nvSpPr>
        <p:spPr>
          <a:xfrm>
            <a:off x="4526194" y="1866109"/>
            <a:ext cx="4205100" cy="4971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C9C9C0"/>
              </a:buClr>
              <a:buSzPts val="851"/>
              <a:buFont typeface="Tomorrow"/>
              <a:buNone/>
            </a:pPr>
            <a:r>
              <a:rPr b="0" i="0" lang="tr" sz="950" u="none" cap="none" strike="noStrike">
                <a:solidFill>
                  <a:srgbClr val="C9C9C0"/>
                </a:solidFill>
                <a:latin typeface="Tomorrow"/>
                <a:ea typeface="Tomorrow"/>
                <a:cs typeface="Tomorrow"/>
                <a:sym typeface="Tomorrow"/>
              </a:rPr>
              <a:t>Bir D-FFNN'nin parametrelerinin pratik öğrenimi geri yayılım algoritmasıyla gerçekleştirilebilir; ancak hesaplama verimliliği açısından günümüzde Stokastik Gradyan İnişi kullanılmaktadır (Bottou, 2010).</a:t>
            </a:r>
            <a:endParaRPr b="0" i="0" sz="950" u="none" cap="none" strike="noStrike"/>
          </a:p>
        </p:txBody>
      </p:sp>
      <p:sp>
        <p:nvSpPr>
          <p:cNvPr id="144" name="Google Shape;144;p17"/>
          <p:cNvSpPr/>
          <p:nvPr/>
        </p:nvSpPr>
        <p:spPr>
          <a:xfrm>
            <a:off x="4571994" y="2814643"/>
            <a:ext cx="4205100" cy="8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C9C9C0"/>
              </a:buClr>
              <a:buSzPts val="851"/>
              <a:buFont typeface="Tomorrow"/>
              <a:buNone/>
            </a:pPr>
            <a:r>
              <a:rPr b="0" i="0" lang="tr" sz="950" u="none" cap="none" strike="noStrike">
                <a:solidFill>
                  <a:srgbClr val="C9C9C0"/>
                </a:solidFill>
                <a:latin typeface="Tomorrow"/>
                <a:ea typeface="Tomorrow"/>
                <a:cs typeface="Tomorrow"/>
                <a:sym typeface="Tomorrow"/>
              </a:rPr>
              <a:t>Stokastik Gradyan İnişi, rastgele seçilmiş eğitim örneklerinden (toplu iş) oluşan bir küme için bir gradyan hesaplar ve parametreleri bu toplu iş için sıralı olarak günceller. Bu, daha hızlı bir öğrenmeyle sonuçlanır. Bir dezavantajı ise hassasiyetin azalmasıdır. Ancak çok sayıda örneğe sahip veri kümeleri (büyük veri) için hız avantajı bu dezavantajın önüne geçmektedir.</a:t>
            </a:r>
            <a:endParaRPr b="0" i="0" sz="950" u="none" cap="none" strike="noStrike"/>
          </a:p>
        </p:txBody>
      </p:sp>
      <p:sp>
        <p:nvSpPr>
          <p:cNvPr id="145" name="Google Shape;145;p17"/>
          <p:cNvSpPr/>
          <p:nvPr/>
        </p:nvSpPr>
        <p:spPr>
          <a:xfrm>
            <a:off x="4571994" y="4271416"/>
            <a:ext cx="4205100" cy="597000"/>
          </a:xfrm>
          <a:prstGeom prst="roundRect">
            <a:avLst>
              <a:gd fmla="val 2803" name="adj"/>
            </a:avLst>
          </a:prstGeom>
          <a:solidFill>
            <a:srgbClr val="272725"/>
          </a:solidFill>
          <a:ln>
            <a:noFill/>
          </a:ln>
        </p:spPr>
        <p:txBody>
          <a:bodyPr anchorCtr="0" anchor="ctr" bIns="59825" lIns="59825" spcFirstLastPara="1" rIns="59825" wrap="square" tIns="59825">
            <a:noAutofit/>
          </a:bodyPr>
          <a:lstStyle/>
          <a:p>
            <a:pPr indent="0" lvl="0" marL="0" rtl="0" algn="l">
              <a:spcBef>
                <a:spcPts val="0"/>
              </a:spcBef>
              <a:spcAft>
                <a:spcPts val="0"/>
              </a:spcAft>
              <a:buNone/>
            </a:pPr>
            <a:r>
              <a:t/>
            </a:r>
            <a:endParaRPr/>
          </a:p>
        </p:txBody>
      </p:sp>
      <p:pic>
        <p:nvPicPr>
          <p:cNvPr descr="preencoded.png" id="146" name="Google Shape;146;p17"/>
          <p:cNvPicPr preferRelativeResize="0"/>
          <p:nvPr/>
        </p:nvPicPr>
        <p:blipFill rotWithShape="1">
          <a:blip r:embed="rId5">
            <a:alphaModFix/>
          </a:blip>
          <a:srcRect b="0" l="0" r="0" t="0"/>
          <a:stretch/>
        </p:blipFill>
        <p:spPr>
          <a:xfrm>
            <a:off x="4683488" y="4437761"/>
            <a:ext cx="139309" cy="111493"/>
          </a:xfrm>
          <a:prstGeom prst="rect">
            <a:avLst/>
          </a:prstGeom>
          <a:noFill/>
          <a:ln>
            <a:noFill/>
          </a:ln>
        </p:spPr>
      </p:pic>
      <p:sp>
        <p:nvSpPr>
          <p:cNvPr id="147" name="Google Shape;147;p17"/>
          <p:cNvSpPr/>
          <p:nvPr/>
        </p:nvSpPr>
        <p:spPr>
          <a:xfrm>
            <a:off x="4934290" y="4394909"/>
            <a:ext cx="3731100" cy="331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FFFFFF"/>
              </a:buClr>
              <a:buSzPts val="851"/>
              <a:buFont typeface="Tomorrow"/>
              <a:buNone/>
            </a:pPr>
            <a:r>
              <a:rPr b="0" i="0" lang="tr" sz="850" u="none" cap="none" strike="noStrike">
                <a:solidFill>
                  <a:srgbClr val="FFFFFF"/>
                </a:solidFill>
                <a:latin typeface="Tomorrow"/>
                <a:ea typeface="Tomorrow"/>
                <a:cs typeface="Tomorrow"/>
                <a:sym typeface="Tomorrow"/>
              </a:rPr>
              <a:t>D-FFNN'ler, pratik öğrenilebilirlik nedenleriyle (sığ) FFNN'ler yerine kullanılır; zira evrensel yaklaşım teoremi sınırsız genişliğe yol açabilir.</a:t>
            </a:r>
            <a:endParaRPr b="0" i="0" sz="85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8"/>
          <p:cNvSpPr/>
          <p:nvPr/>
        </p:nvSpPr>
        <p:spPr>
          <a:xfrm>
            <a:off x="1676875" y="127750"/>
            <a:ext cx="5010900" cy="3138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EDEDE8"/>
              </a:buClr>
              <a:buSzPts val="1731"/>
              <a:buFont typeface="Tomorrow SemiBold"/>
              <a:buNone/>
            </a:pPr>
            <a:r>
              <a:rPr b="1" i="0" lang="tr" sz="1730" u="none" cap="none" strike="noStrike">
                <a:solidFill>
                  <a:srgbClr val="EDEDE8"/>
                </a:solidFill>
                <a:latin typeface="Tomorrow SemiBold"/>
                <a:ea typeface="Tomorrow SemiBold"/>
                <a:cs typeface="Tomorrow SemiBold"/>
                <a:sym typeface="Tomorrow SemiBold"/>
              </a:rPr>
              <a:t>5. Evrişimli Sinir Ağları (CNN)</a:t>
            </a:r>
            <a:endParaRPr b="0" i="0" sz="1730" u="none" cap="none" strike="noStrike"/>
          </a:p>
        </p:txBody>
      </p:sp>
      <p:sp>
        <p:nvSpPr>
          <p:cNvPr id="153" name="Google Shape;153;p18"/>
          <p:cNvSpPr/>
          <p:nvPr/>
        </p:nvSpPr>
        <p:spPr>
          <a:xfrm>
            <a:off x="1676875" y="491015"/>
            <a:ext cx="6945000" cy="211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C9C0"/>
              </a:buClr>
              <a:buSzPts val="666"/>
              <a:buFont typeface="Tomorrow"/>
              <a:buNone/>
            </a:pPr>
            <a:r>
              <a:rPr b="0" i="0" lang="tr" sz="665" u="none" cap="none" strike="noStrike">
                <a:solidFill>
                  <a:srgbClr val="C9C9C0"/>
                </a:solidFill>
                <a:latin typeface="Tomorrow"/>
                <a:ea typeface="Tomorrow"/>
                <a:cs typeface="Tomorrow"/>
                <a:sym typeface="Tomorrow"/>
              </a:rPr>
              <a:t>Evrişimli Sinir Ağı (CNN), evrişim, ReLU ve havuzlama katmanlarını kullanan özel bir İleri Beslemeli Sinir Ağıdır. Standart CNN'ler normalde evrişim, havuzlama ve tam bağlantılı katmanlar dahil olmak üzere birkaç İleri Beslemeli Sinir Ağı katmanından oluşur.</a:t>
            </a:r>
            <a:endParaRPr b="0" i="0" sz="665" u="none" cap="none" strike="noStrike"/>
          </a:p>
        </p:txBody>
      </p:sp>
      <p:pic>
        <p:nvPicPr>
          <p:cNvPr descr="preencoded.png" id="154" name="Google Shape;154;p18"/>
          <p:cNvPicPr preferRelativeResize="0"/>
          <p:nvPr/>
        </p:nvPicPr>
        <p:blipFill rotWithShape="1">
          <a:blip r:embed="rId3">
            <a:alphaModFix/>
          </a:blip>
          <a:srcRect b="0" l="0" r="0" t="0"/>
          <a:stretch/>
        </p:blipFill>
        <p:spPr>
          <a:xfrm>
            <a:off x="1676875" y="751575"/>
            <a:ext cx="6319074" cy="2748225"/>
          </a:xfrm>
          <a:prstGeom prst="rect">
            <a:avLst/>
          </a:prstGeom>
          <a:noFill/>
          <a:ln>
            <a:noFill/>
          </a:ln>
        </p:spPr>
      </p:pic>
      <p:sp>
        <p:nvSpPr>
          <p:cNvPr id="155" name="Google Shape;155;p18"/>
          <p:cNvSpPr/>
          <p:nvPr/>
        </p:nvSpPr>
        <p:spPr>
          <a:xfrm>
            <a:off x="1510950" y="3692959"/>
            <a:ext cx="2285400" cy="1078800"/>
          </a:xfrm>
          <a:prstGeom prst="roundRect">
            <a:avLst>
              <a:gd fmla="val 1224" name="adj"/>
            </a:avLst>
          </a:prstGeom>
          <a:solidFill>
            <a:srgbClr val="3C3C3A"/>
          </a:solidFill>
          <a:ln>
            <a:noFill/>
          </a:ln>
        </p:spPr>
        <p:txBody>
          <a:bodyPr anchorCtr="0" anchor="ctr" bIns="81125" lIns="81125" spcFirstLastPara="1" rIns="81125" wrap="square" tIns="81125">
            <a:noAutofit/>
          </a:bodyPr>
          <a:lstStyle/>
          <a:p>
            <a:pPr indent="0" lvl="0" marL="0" rtl="0" algn="l">
              <a:spcBef>
                <a:spcPts val="0"/>
              </a:spcBef>
              <a:spcAft>
                <a:spcPts val="0"/>
              </a:spcAft>
              <a:buNone/>
            </a:pPr>
            <a:r>
              <a:t/>
            </a:r>
            <a:endParaRPr/>
          </a:p>
        </p:txBody>
      </p:sp>
      <p:sp>
        <p:nvSpPr>
          <p:cNvPr id="156" name="Google Shape;156;p18"/>
          <p:cNvSpPr/>
          <p:nvPr/>
        </p:nvSpPr>
        <p:spPr>
          <a:xfrm>
            <a:off x="1598966" y="3780975"/>
            <a:ext cx="1219200" cy="1377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C9C9C0"/>
              </a:buClr>
              <a:buSzPts val="843"/>
              <a:buFont typeface="Tomorrow SemiBold"/>
              <a:buNone/>
            </a:pPr>
            <a:r>
              <a:rPr b="1" i="0" lang="tr" sz="843" u="none" cap="none" strike="noStrike">
                <a:solidFill>
                  <a:srgbClr val="C9C9C0"/>
                </a:solidFill>
                <a:latin typeface="Tomorrow SemiBold"/>
                <a:ea typeface="Tomorrow SemiBold"/>
                <a:cs typeface="Tomorrow SemiBold"/>
                <a:sym typeface="Tomorrow SemiBold"/>
              </a:rPr>
              <a:t>5.1.1. Evrişim Katmanı</a:t>
            </a:r>
            <a:endParaRPr b="0" i="0" sz="843" u="none" cap="none" strike="noStrike"/>
          </a:p>
        </p:txBody>
      </p:sp>
      <p:sp>
        <p:nvSpPr>
          <p:cNvPr id="157" name="Google Shape;157;p18"/>
          <p:cNvSpPr/>
          <p:nvPr/>
        </p:nvSpPr>
        <p:spPr>
          <a:xfrm>
            <a:off x="1598966" y="3944962"/>
            <a:ext cx="2109600" cy="633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C9C0"/>
              </a:buClr>
              <a:buSzPts val="666"/>
              <a:buFont typeface="Tomorrow"/>
              <a:buNone/>
            </a:pPr>
            <a:r>
              <a:rPr b="0" i="0" lang="tr" sz="665" u="none" cap="none" strike="noStrike">
                <a:solidFill>
                  <a:srgbClr val="C9C9C0"/>
                </a:solidFill>
                <a:latin typeface="Tomorrow"/>
                <a:ea typeface="Tomorrow"/>
                <a:cs typeface="Tomorrow"/>
                <a:sym typeface="Tomorrow"/>
              </a:rPr>
              <a:t>Evrişim katmanı, girdiyi daha soyut bir düzeyin temsiline dönüştürmek için yerel bağlantı kullanır. Bir çekirdek, girdi üzerinde kayarak evrişim işlemi gerçekleştirir; sonuçlar aktivasyon haritalarında saklanır. Temel hiper parametreler: çekirdek boyutu (N), adım (S) ve sıfır dolgu (P).</a:t>
            </a:r>
            <a:endParaRPr b="0" i="0" sz="665" u="none" cap="none" strike="noStrike"/>
          </a:p>
        </p:txBody>
      </p:sp>
      <p:sp>
        <p:nvSpPr>
          <p:cNvPr id="158" name="Google Shape;158;p18"/>
          <p:cNvSpPr/>
          <p:nvPr/>
        </p:nvSpPr>
        <p:spPr>
          <a:xfrm>
            <a:off x="3879551" y="3692959"/>
            <a:ext cx="2285400" cy="1078800"/>
          </a:xfrm>
          <a:prstGeom prst="roundRect">
            <a:avLst>
              <a:gd fmla="val 1224" name="adj"/>
            </a:avLst>
          </a:prstGeom>
          <a:solidFill>
            <a:srgbClr val="3C3C3A"/>
          </a:solidFill>
          <a:ln>
            <a:noFill/>
          </a:ln>
        </p:spPr>
        <p:txBody>
          <a:bodyPr anchorCtr="0" anchor="ctr" bIns="81125" lIns="81125" spcFirstLastPara="1" rIns="81125" wrap="square" tIns="81125">
            <a:noAutofit/>
          </a:bodyPr>
          <a:lstStyle/>
          <a:p>
            <a:pPr indent="0" lvl="0" marL="0" rtl="0" algn="l">
              <a:spcBef>
                <a:spcPts val="0"/>
              </a:spcBef>
              <a:spcAft>
                <a:spcPts val="0"/>
              </a:spcAft>
              <a:buNone/>
            </a:pPr>
            <a:r>
              <a:t/>
            </a:r>
            <a:endParaRPr/>
          </a:p>
        </p:txBody>
      </p:sp>
      <p:sp>
        <p:nvSpPr>
          <p:cNvPr id="159" name="Google Shape;159;p18"/>
          <p:cNvSpPr/>
          <p:nvPr/>
        </p:nvSpPr>
        <p:spPr>
          <a:xfrm>
            <a:off x="3967568" y="3780975"/>
            <a:ext cx="1449000" cy="1377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C9C9C0"/>
              </a:buClr>
              <a:buSzPts val="843"/>
              <a:buFont typeface="Tomorrow SemiBold"/>
              <a:buNone/>
            </a:pPr>
            <a:r>
              <a:rPr b="1" i="0" lang="tr" sz="843" u="none" cap="none" strike="noStrike">
                <a:solidFill>
                  <a:srgbClr val="C9C9C0"/>
                </a:solidFill>
                <a:latin typeface="Tomorrow SemiBold"/>
                <a:ea typeface="Tomorrow SemiBold"/>
                <a:cs typeface="Tomorrow SemiBold"/>
                <a:sym typeface="Tomorrow SemiBold"/>
              </a:rPr>
              <a:t>5.1.2. Havuzlama Katmanı</a:t>
            </a:r>
            <a:endParaRPr b="0" i="0" sz="843" u="none" cap="none" strike="noStrike"/>
          </a:p>
        </p:txBody>
      </p:sp>
      <p:sp>
        <p:nvSpPr>
          <p:cNvPr id="160" name="Google Shape;160;p18"/>
          <p:cNvSpPr/>
          <p:nvPr/>
        </p:nvSpPr>
        <p:spPr>
          <a:xfrm>
            <a:off x="3967568" y="3944962"/>
            <a:ext cx="2109600" cy="738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C9C0"/>
              </a:buClr>
              <a:buSzPts val="666"/>
              <a:buFont typeface="Tomorrow"/>
              <a:buNone/>
            </a:pPr>
            <a:r>
              <a:rPr b="0" i="0" lang="tr" sz="665" u="none" cap="none" strike="noStrike">
                <a:solidFill>
                  <a:srgbClr val="C9C9C0"/>
                </a:solidFill>
                <a:latin typeface="Tomorrow"/>
                <a:ea typeface="Tomorrow"/>
                <a:cs typeface="Tomorrow"/>
                <a:sym typeface="Tomorrow"/>
              </a:rPr>
              <a:t>Havuzlama katmanı, mümkün olduğunca fazla bilgiyi koruyarak girdinin boyutunu azaltmayı amaçlar. En yaygın kullanılan havuzlama yöntemi, değişmezlikleri verimli biçimde yakalayarak görüntülerle başa çıkmada üstün olduğu gösterilen maksimum havuzlamadır (Scherer et al., 2010).</a:t>
            </a:r>
            <a:endParaRPr b="0" i="0" sz="665" u="none" cap="none" strike="noStrike"/>
          </a:p>
        </p:txBody>
      </p:sp>
      <p:sp>
        <p:nvSpPr>
          <p:cNvPr id="161" name="Google Shape;161;p18"/>
          <p:cNvSpPr/>
          <p:nvPr/>
        </p:nvSpPr>
        <p:spPr>
          <a:xfrm>
            <a:off x="6248153" y="3722359"/>
            <a:ext cx="2285400" cy="1078800"/>
          </a:xfrm>
          <a:prstGeom prst="roundRect">
            <a:avLst>
              <a:gd fmla="val 1224" name="adj"/>
            </a:avLst>
          </a:prstGeom>
          <a:solidFill>
            <a:srgbClr val="3C3C3A"/>
          </a:solidFill>
          <a:ln>
            <a:noFill/>
          </a:ln>
        </p:spPr>
        <p:txBody>
          <a:bodyPr anchorCtr="0" anchor="ctr" bIns="81125" lIns="81125" spcFirstLastPara="1" rIns="81125" wrap="square" tIns="81125">
            <a:noAutofit/>
          </a:bodyPr>
          <a:lstStyle/>
          <a:p>
            <a:pPr indent="0" lvl="0" marL="0" rtl="0" algn="l">
              <a:spcBef>
                <a:spcPts val="0"/>
              </a:spcBef>
              <a:spcAft>
                <a:spcPts val="0"/>
              </a:spcAft>
              <a:buNone/>
            </a:pPr>
            <a:r>
              <a:t/>
            </a:r>
            <a:endParaRPr/>
          </a:p>
        </p:txBody>
      </p:sp>
      <p:sp>
        <p:nvSpPr>
          <p:cNvPr id="162" name="Google Shape;162;p18"/>
          <p:cNvSpPr/>
          <p:nvPr/>
        </p:nvSpPr>
        <p:spPr>
          <a:xfrm>
            <a:off x="6336169" y="3810375"/>
            <a:ext cx="1572000" cy="1377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C9C9C0"/>
              </a:buClr>
              <a:buSzPts val="843"/>
              <a:buFont typeface="Tomorrow SemiBold"/>
              <a:buNone/>
            </a:pPr>
            <a:r>
              <a:rPr b="1" i="0" lang="tr" sz="843" u="none" cap="none" strike="noStrike">
                <a:solidFill>
                  <a:srgbClr val="C9C9C0"/>
                </a:solidFill>
                <a:latin typeface="Tomorrow SemiBold"/>
                <a:ea typeface="Tomorrow SemiBold"/>
                <a:cs typeface="Tomorrow SemiBold"/>
                <a:sym typeface="Tomorrow SemiBold"/>
              </a:rPr>
              <a:t>5.1.3. Tam Bağlantılı Katman</a:t>
            </a:r>
            <a:endParaRPr b="0" i="0" sz="843" u="none" cap="none" strike="noStrike"/>
          </a:p>
        </p:txBody>
      </p:sp>
      <p:sp>
        <p:nvSpPr>
          <p:cNvPr id="163" name="Google Shape;163;p18"/>
          <p:cNvSpPr/>
          <p:nvPr/>
        </p:nvSpPr>
        <p:spPr>
          <a:xfrm>
            <a:off x="6336169" y="3974362"/>
            <a:ext cx="2109600" cy="527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C9C0"/>
              </a:buClr>
              <a:buSzPts val="666"/>
              <a:buFont typeface="Tomorrow"/>
              <a:buNone/>
            </a:pPr>
            <a:r>
              <a:rPr b="0" i="0" lang="tr" sz="665" u="none" cap="none" strike="noStrike">
                <a:solidFill>
                  <a:srgbClr val="C9C9C0"/>
                </a:solidFill>
                <a:latin typeface="Tomorrow"/>
                <a:ea typeface="Tomorrow"/>
                <a:cs typeface="Tomorrow"/>
                <a:sym typeface="Tomorrow"/>
              </a:rPr>
              <a:t>Tam bağlantılı katman, FFNN'deki temel gizli katman birimidir. Geleneksel CNN mimarileri için de son katmandan önce tam bağlantılı bir katman eklenir; ancak son zamanlarda bu yaklaşımın faydası sorgulanmaktadır.</a:t>
            </a:r>
            <a:endParaRPr b="0" i="0" sz="665"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9"/>
          <p:cNvSpPr/>
          <p:nvPr/>
        </p:nvSpPr>
        <p:spPr>
          <a:xfrm>
            <a:off x="3402449" y="5842159"/>
            <a:ext cx="3156900" cy="248100"/>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EDEDE8"/>
              </a:buClr>
              <a:buSzPts val="1550"/>
              <a:buFont typeface="Tomorrow SemiBold"/>
              <a:buNone/>
            </a:pPr>
            <a:r>
              <a:rPr b="1" i="0" lang="tr" sz="1550" u="none" cap="none" strike="noStrike">
                <a:solidFill>
                  <a:srgbClr val="EDEDE8"/>
                </a:solidFill>
                <a:latin typeface="Tomorrow SemiBold"/>
                <a:ea typeface="Tomorrow SemiBold"/>
                <a:cs typeface="Tomorrow SemiBold"/>
                <a:sym typeface="Tomorrow SemiBold"/>
              </a:rPr>
              <a:t>5.2. CNN'nin Önemli Varyantları</a:t>
            </a:r>
            <a:endParaRPr b="0" i="0" sz="1550" u="none" cap="none" strike="noStrike"/>
          </a:p>
        </p:txBody>
      </p:sp>
      <p:sp>
        <p:nvSpPr>
          <p:cNvPr id="169" name="Google Shape;169;p19"/>
          <p:cNvSpPr/>
          <p:nvPr/>
        </p:nvSpPr>
        <p:spPr>
          <a:xfrm>
            <a:off x="3402449" y="6164580"/>
            <a:ext cx="2575500" cy="1390200"/>
          </a:xfrm>
          <a:prstGeom prst="roundRect">
            <a:avLst>
              <a:gd fmla="val 5262" name="adj"/>
            </a:avLst>
          </a:prstGeom>
          <a:solidFill>
            <a:srgbClr val="1D1D1B"/>
          </a:solidFill>
          <a:ln cap="flat" cmpd="sng" w="15225">
            <a:solidFill>
              <a:srgbClr val="5555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9"/>
          <p:cNvSpPr/>
          <p:nvPr/>
        </p:nvSpPr>
        <p:spPr>
          <a:xfrm>
            <a:off x="3387209" y="6164580"/>
            <a:ext cx="60900" cy="1390200"/>
          </a:xfrm>
          <a:prstGeom prst="roundRect">
            <a:avLst>
              <a:gd fmla="val 24419" name="adj"/>
            </a:avLst>
          </a:prstGeom>
          <a:solidFill>
            <a:srgbClr val="E1E1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9"/>
          <p:cNvSpPr/>
          <p:nvPr/>
        </p:nvSpPr>
        <p:spPr>
          <a:xfrm>
            <a:off x="3562588" y="6278999"/>
            <a:ext cx="1240500" cy="1551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C9C9C0"/>
              </a:buClr>
              <a:buSzPts val="950"/>
              <a:buFont typeface="Tomorrow SemiBold"/>
              <a:buNone/>
            </a:pPr>
            <a:r>
              <a:rPr b="1" i="0" lang="tr" sz="950" u="none" cap="none" strike="noStrike">
                <a:solidFill>
                  <a:srgbClr val="C9C9C0"/>
                </a:solidFill>
                <a:latin typeface="Tomorrow SemiBold"/>
                <a:ea typeface="Tomorrow SemiBold"/>
                <a:cs typeface="Tomorrow SemiBold"/>
                <a:sym typeface="Tomorrow SemiBold"/>
              </a:rPr>
              <a:t>VGGNet</a:t>
            </a:r>
            <a:endParaRPr b="0" i="0" sz="950" u="none" cap="none" strike="noStrike"/>
          </a:p>
        </p:txBody>
      </p:sp>
      <p:sp>
        <p:nvSpPr>
          <p:cNvPr id="172" name="Google Shape;172;p19"/>
          <p:cNvSpPr/>
          <p:nvPr/>
        </p:nvSpPr>
        <p:spPr>
          <a:xfrm>
            <a:off x="3562588" y="6463784"/>
            <a:ext cx="2301000" cy="832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C9C0"/>
              </a:buClr>
              <a:buSzPts val="750"/>
              <a:buFont typeface="Tomorrow"/>
              <a:buNone/>
            </a:pPr>
            <a:r>
              <a:rPr b="0" i="0" lang="tr" sz="750" u="none" cap="none" strike="noStrike">
                <a:solidFill>
                  <a:srgbClr val="C9C9C0"/>
                </a:solidFill>
                <a:latin typeface="Tomorrow"/>
                <a:ea typeface="Tomorrow"/>
                <a:cs typeface="Tomorrow"/>
                <a:sym typeface="Tomorrow"/>
              </a:rPr>
              <a:t>VGGNet (Simonyan ve Zisserman, 2014), ağın derinliğinin CNN performansını nasıl etkilediğini araştıran öncü bir çalışmadır. VGG19, sekiz ağırlık katmanını 19 ağırlık katmanına genişletti; parametreler 61 milyondan 144 milyona çıktı. ILSVRC veri setinde en iyi-1 doğrulama hatası 29,6'dan 25,5'e düştü.</a:t>
            </a:r>
            <a:endParaRPr b="0" i="0" sz="750" u="none" cap="none" strike="noStrike"/>
          </a:p>
        </p:txBody>
      </p:sp>
      <p:sp>
        <p:nvSpPr>
          <p:cNvPr id="173" name="Google Shape;173;p19"/>
          <p:cNvSpPr/>
          <p:nvPr/>
        </p:nvSpPr>
        <p:spPr>
          <a:xfrm>
            <a:off x="6027420" y="6164580"/>
            <a:ext cx="2575500" cy="1390200"/>
          </a:xfrm>
          <a:prstGeom prst="roundRect">
            <a:avLst>
              <a:gd fmla="val 5262" name="adj"/>
            </a:avLst>
          </a:prstGeom>
          <a:solidFill>
            <a:srgbClr val="1D1D1B"/>
          </a:solidFill>
          <a:ln cap="flat" cmpd="sng" w="15225">
            <a:solidFill>
              <a:srgbClr val="5555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9"/>
          <p:cNvSpPr/>
          <p:nvPr/>
        </p:nvSpPr>
        <p:spPr>
          <a:xfrm>
            <a:off x="6012180" y="6164580"/>
            <a:ext cx="60900" cy="1390200"/>
          </a:xfrm>
          <a:prstGeom prst="roundRect">
            <a:avLst>
              <a:gd fmla="val 24419" name="adj"/>
            </a:avLst>
          </a:prstGeom>
          <a:solidFill>
            <a:srgbClr val="E1E1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9"/>
          <p:cNvSpPr/>
          <p:nvPr/>
        </p:nvSpPr>
        <p:spPr>
          <a:xfrm>
            <a:off x="6187559" y="6278999"/>
            <a:ext cx="1505100" cy="1551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C9C9C0"/>
              </a:buClr>
              <a:buSzPts val="950"/>
              <a:buFont typeface="Tomorrow SemiBold"/>
              <a:buNone/>
            </a:pPr>
            <a:r>
              <a:rPr b="1" i="0" lang="tr" sz="950" u="none" cap="none" strike="noStrike">
                <a:solidFill>
                  <a:srgbClr val="C9C9C0"/>
                </a:solidFill>
                <a:latin typeface="Tomorrow SemiBold"/>
                <a:ea typeface="Tomorrow SemiBold"/>
                <a:cs typeface="Tomorrow SemiBold"/>
                <a:sym typeface="Tomorrow SemiBold"/>
              </a:rPr>
              <a:t>GoogLeNet ve Inception</a:t>
            </a:r>
            <a:endParaRPr b="0" i="0" sz="950" u="none" cap="none" strike="noStrike"/>
          </a:p>
        </p:txBody>
      </p:sp>
      <p:sp>
        <p:nvSpPr>
          <p:cNvPr id="176" name="Google Shape;176;p19"/>
          <p:cNvSpPr/>
          <p:nvPr/>
        </p:nvSpPr>
        <p:spPr>
          <a:xfrm>
            <a:off x="6187559" y="6463784"/>
            <a:ext cx="2301000" cy="832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C9C0"/>
              </a:buClr>
              <a:buSzPts val="750"/>
              <a:buFont typeface="Tomorrow"/>
              <a:buNone/>
            </a:pPr>
            <a:r>
              <a:rPr b="0" i="0" lang="tr" sz="750" u="none" cap="none" strike="noStrike">
                <a:solidFill>
                  <a:srgbClr val="C9C9C0"/>
                </a:solidFill>
                <a:latin typeface="Tomorrow"/>
                <a:ea typeface="Tomorrow"/>
                <a:cs typeface="Tomorrow"/>
                <a:sym typeface="Tomorrow"/>
              </a:rPr>
              <a:t>GoogLeNet (Szegedy et al., 2015), Google tarafından tanıtıldı. Inception ağ mimarisinin temel fikri, bilgisayarın sağladığı hızlı matris hesaplama özelliğini kullanırken ağı mümkün olduğunca seyrek tutmaktır. GoogLeNet, ILSVRC2014 sınıflandırma görevinde birinci oldu.</a:t>
            </a:r>
            <a:endParaRPr b="0" i="0" sz="750" u="none" cap="none" strike="noStrike"/>
          </a:p>
        </p:txBody>
      </p:sp>
      <p:sp>
        <p:nvSpPr>
          <p:cNvPr id="177" name="Google Shape;177;p19"/>
          <p:cNvSpPr/>
          <p:nvPr/>
        </p:nvSpPr>
        <p:spPr>
          <a:xfrm>
            <a:off x="8652391" y="6164580"/>
            <a:ext cx="2575500" cy="1390200"/>
          </a:xfrm>
          <a:prstGeom prst="roundRect">
            <a:avLst>
              <a:gd fmla="val 5262" name="adj"/>
            </a:avLst>
          </a:prstGeom>
          <a:solidFill>
            <a:srgbClr val="1D1D1B"/>
          </a:solidFill>
          <a:ln cap="flat" cmpd="sng" w="15225">
            <a:solidFill>
              <a:srgbClr val="5555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9"/>
          <p:cNvSpPr/>
          <p:nvPr/>
        </p:nvSpPr>
        <p:spPr>
          <a:xfrm>
            <a:off x="8637151" y="6164580"/>
            <a:ext cx="60900" cy="1390200"/>
          </a:xfrm>
          <a:prstGeom prst="roundRect">
            <a:avLst>
              <a:gd fmla="val 24419" name="adj"/>
            </a:avLst>
          </a:prstGeom>
          <a:solidFill>
            <a:srgbClr val="E1E1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9"/>
          <p:cNvSpPr/>
          <p:nvPr/>
        </p:nvSpPr>
        <p:spPr>
          <a:xfrm>
            <a:off x="8812530" y="6278999"/>
            <a:ext cx="1240500" cy="1551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C9C9C0"/>
              </a:buClr>
              <a:buSzPts val="950"/>
              <a:buFont typeface="Tomorrow SemiBold"/>
              <a:buNone/>
            </a:pPr>
            <a:r>
              <a:rPr b="1" i="0" lang="tr" sz="950" u="none" cap="none" strike="noStrike">
                <a:solidFill>
                  <a:srgbClr val="C9C9C0"/>
                </a:solidFill>
                <a:latin typeface="Tomorrow SemiBold"/>
                <a:ea typeface="Tomorrow SemiBold"/>
                <a:cs typeface="Tomorrow SemiBold"/>
                <a:sym typeface="Tomorrow SemiBold"/>
              </a:rPr>
              <a:t>ResNet</a:t>
            </a:r>
            <a:endParaRPr b="0" i="0" sz="950" u="none" cap="none" strike="noStrike"/>
          </a:p>
        </p:txBody>
      </p:sp>
      <p:sp>
        <p:nvSpPr>
          <p:cNvPr id="180" name="Google Shape;180;p19"/>
          <p:cNvSpPr/>
          <p:nvPr/>
        </p:nvSpPr>
        <p:spPr>
          <a:xfrm>
            <a:off x="8812530" y="6463784"/>
            <a:ext cx="2301000" cy="976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C9C0"/>
              </a:buClr>
              <a:buSzPts val="750"/>
              <a:buFont typeface="Tomorrow"/>
              <a:buNone/>
            </a:pPr>
            <a:r>
              <a:rPr b="0" i="0" lang="tr" sz="750" u="none" cap="none" strike="noStrike">
                <a:solidFill>
                  <a:srgbClr val="C9C9C0"/>
                </a:solidFill>
                <a:latin typeface="Tomorrow"/>
                <a:ea typeface="Tomorrow"/>
                <a:cs typeface="Tomorrow"/>
                <a:sym typeface="Tomorrow"/>
              </a:rPr>
              <a:t>ResNet (He et al., 2016), CNN'lerin bozulma sorununu aşmak için tanıtıldı. Yazarlar, istenen temel eşlemeyi </a:t>
            </a:r>
            <a:r>
              <a:rPr b="0" i="1" lang="tr" sz="750" u="none" cap="none" strike="noStrike">
                <a:solidFill>
                  <a:srgbClr val="C9C9C0"/>
                </a:solidFill>
                <a:latin typeface="Tomorrow"/>
                <a:ea typeface="Tomorrow"/>
                <a:cs typeface="Tomorrow"/>
                <a:sym typeface="Tomorrow"/>
              </a:rPr>
              <a:t>H(x)</a:t>
            </a:r>
            <a:r>
              <a:rPr b="0" i="0" lang="tr" sz="750" u="none" cap="none" strike="noStrike">
                <a:solidFill>
                  <a:srgbClr val="C9C9C0"/>
                </a:solidFill>
                <a:latin typeface="Tomorrow"/>
                <a:ea typeface="Tomorrow"/>
                <a:cs typeface="Tomorrow"/>
                <a:sym typeface="Tomorrow"/>
              </a:rPr>
              <a:t> öğrenmek yerine artık eşlemeyi </a:t>
            </a:r>
            <a:r>
              <a:rPr b="0" i="1" lang="tr" sz="750" u="none" cap="none" strike="noStrike">
                <a:solidFill>
                  <a:srgbClr val="C9C9C0"/>
                </a:solidFill>
                <a:latin typeface="Tomorrow"/>
                <a:ea typeface="Tomorrow"/>
                <a:cs typeface="Tomorrow"/>
                <a:sym typeface="Tomorrow"/>
              </a:rPr>
              <a:t>F(x) = H(x) - x</a:t>
            </a:r>
            <a:r>
              <a:rPr b="0" i="0" lang="tr" sz="750" u="none" cap="none" strike="noStrike">
                <a:solidFill>
                  <a:srgbClr val="C9C9C0"/>
                </a:solidFill>
                <a:latin typeface="Tomorrow"/>
                <a:ea typeface="Tomorrow"/>
                <a:cs typeface="Tomorrow"/>
                <a:sym typeface="Tomorrow"/>
              </a:rPr>
              <a:t> öğrenmek için kimlik eşlemesini kullanan derin artık öğrenme çerçevesini önerdi. ResNet, ILSVRC2016 yarışmasında %3,57 hata oranıyla en iyi sonucu elde etti.</a:t>
            </a:r>
            <a:endParaRPr b="0" i="0" sz="750" u="none" cap="none" strike="noStrike"/>
          </a:p>
        </p:txBody>
      </p:sp>
      <p:pic>
        <p:nvPicPr>
          <p:cNvPr descr="preencoded.png" id="181" name="Google Shape;181;p19"/>
          <p:cNvPicPr preferRelativeResize="0"/>
          <p:nvPr/>
        </p:nvPicPr>
        <p:blipFill rotWithShape="1">
          <a:blip r:embed="rId3">
            <a:alphaModFix/>
          </a:blip>
          <a:srcRect b="0" l="0" r="0" t="0"/>
          <a:stretch/>
        </p:blipFill>
        <p:spPr>
          <a:xfrm>
            <a:off x="3402449" y="7610475"/>
            <a:ext cx="6926580" cy="2194560"/>
          </a:xfrm>
          <a:prstGeom prst="rect">
            <a:avLst/>
          </a:prstGeom>
          <a:noFill/>
          <a:ln>
            <a:noFill/>
          </a:ln>
        </p:spPr>
      </p:pic>
      <p:sp>
        <p:nvSpPr>
          <p:cNvPr id="182" name="Google Shape;182;p19"/>
          <p:cNvSpPr/>
          <p:nvPr/>
        </p:nvSpPr>
        <p:spPr>
          <a:xfrm>
            <a:off x="3402449" y="9860756"/>
            <a:ext cx="7825500" cy="237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C9C0"/>
              </a:buClr>
              <a:buSzPts val="750"/>
              <a:buFont typeface="Tomorrow"/>
              <a:buNone/>
            </a:pPr>
            <a:r>
              <a:rPr b="1" i="0" lang="tr" sz="750" u="none" cap="none" strike="noStrike">
                <a:solidFill>
                  <a:srgbClr val="C9C9C0"/>
                </a:solidFill>
                <a:latin typeface="Tomorrow"/>
                <a:ea typeface="Tomorrow"/>
                <a:cs typeface="Tomorrow"/>
                <a:sym typeface="Tomorrow"/>
              </a:rPr>
              <a:t>Şekil 5 |</a:t>
            </a:r>
            <a:r>
              <a:rPr b="0" i="0" lang="tr" sz="750" u="none" cap="none" strike="noStrike">
                <a:solidFill>
                  <a:srgbClr val="C9C9C0"/>
                </a:solidFill>
                <a:latin typeface="Tomorrow"/>
                <a:ea typeface="Tomorrow"/>
                <a:cs typeface="Tomorrow"/>
                <a:sym typeface="Tomorrow"/>
              </a:rPr>
              <a:t> Aktivasyon haritasındaki değerlerin hesaplanmasına bir örnek. Burada adım 1 ve sıfır dolgu 0'dır. Çekirdek, sol üst konumdan başlayarak soldan sağa 1 piksel kaydırılır; kenara ulaştıktan sonra ikinci satırdan başlar ve tüm girdi kapsanana kadar işlemi tekrarlar.</a:t>
            </a:r>
            <a:endParaRPr b="0" i="0" sz="750" u="none" cap="none" strike="noStrike"/>
          </a:p>
        </p:txBody>
      </p:sp>
      <p:sp>
        <p:nvSpPr>
          <p:cNvPr id="183" name="Google Shape;183;p19"/>
          <p:cNvSpPr/>
          <p:nvPr/>
        </p:nvSpPr>
        <p:spPr>
          <a:xfrm>
            <a:off x="358385" y="250912"/>
            <a:ext cx="3213000" cy="252300"/>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EDEDE8"/>
              </a:buClr>
              <a:buSzPts val="1577"/>
              <a:buFont typeface="Tomorrow SemiBold"/>
              <a:buNone/>
            </a:pPr>
            <a:r>
              <a:rPr b="1" i="0" lang="tr" sz="1577" u="none" cap="none" strike="noStrike">
                <a:solidFill>
                  <a:srgbClr val="EDEDE8"/>
                </a:solidFill>
                <a:latin typeface="Tomorrow SemiBold"/>
                <a:ea typeface="Tomorrow SemiBold"/>
                <a:cs typeface="Tomorrow SemiBold"/>
                <a:sym typeface="Tomorrow SemiBold"/>
              </a:rPr>
              <a:t>5.2. CNN'nin Önemli Varyantları</a:t>
            </a:r>
            <a:endParaRPr b="0" i="0" sz="1577" u="none" cap="none" strike="noStrike"/>
          </a:p>
        </p:txBody>
      </p:sp>
      <p:sp>
        <p:nvSpPr>
          <p:cNvPr id="184" name="Google Shape;184;p19"/>
          <p:cNvSpPr/>
          <p:nvPr/>
        </p:nvSpPr>
        <p:spPr>
          <a:xfrm>
            <a:off x="358385" y="579048"/>
            <a:ext cx="2621100" cy="1414800"/>
          </a:xfrm>
          <a:prstGeom prst="roundRect">
            <a:avLst>
              <a:gd fmla="val 5262" name="adj"/>
            </a:avLst>
          </a:prstGeom>
          <a:solidFill>
            <a:srgbClr val="1D1D1B"/>
          </a:solidFill>
          <a:ln cap="flat" cmpd="sng" w="15500">
            <a:solidFill>
              <a:srgbClr val="555553"/>
            </a:solidFill>
            <a:prstDash val="solid"/>
            <a:round/>
            <a:headEnd len="sm" w="sm" type="none"/>
            <a:tailEnd len="sm" w="sm" type="none"/>
          </a:ln>
        </p:spPr>
        <p:txBody>
          <a:bodyPr anchorCtr="0" anchor="ctr" bIns="93050" lIns="93050" spcFirstLastPara="1" rIns="93050" wrap="square" tIns="93050">
            <a:noAutofit/>
          </a:bodyPr>
          <a:lstStyle/>
          <a:p>
            <a:pPr indent="0" lvl="0" marL="0" rtl="0" algn="l">
              <a:spcBef>
                <a:spcPts val="0"/>
              </a:spcBef>
              <a:spcAft>
                <a:spcPts val="0"/>
              </a:spcAft>
              <a:buNone/>
            </a:pPr>
            <a:r>
              <a:t/>
            </a:r>
            <a:endParaRPr/>
          </a:p>
        </p:txBody>
      </p:sp>
      <p:sp>
        <p:nvSpPr>
          <p:cNvPr id="185" name="Google Shape;185;p19"/>
          <p:cNvSpPr/>
          <p:nvPr/>
        </p:nvSpPr>
        <p:spPr>
          <a:xfrm>
            <a:off x="342875" y="579048"/>
            <a:ext cx="62100" cy="1414800"/>
          </a:xfrm>
          <a:prstGeom prst="roundRect">
            <a:avLst>
              <a:gd fmla="val 24419" name="adj"/>
            </a:avLst>
          </a:prstGeom>
          <a:solidFill>
            <a:srgbClr val="E1E1DF"/>
          </a:solidFill>
          <a:ln>
            <a:noFill/>
          </a:ln>
        </p:spPr>
        <p:txBody>
          <a:bodyPr anchorCtr="0" anchor="ctr" bIns="93050" lIns="93050" spcFirstLastPara="1" rIns="93050" wrap="square" tIns="93050">
            <a:noAutofit/>
          </a:bodyPr>
          <a:lstStyle/>
          <a:p>
            <a:pPr indent="0" lvl="0" marL="0" rtl="0" algn="l">
              <a:spcBef>
                <a:spcPts val="0"/>
              </a:spcBef>
              <a:spcAft>
                <a:spcPts val="0"/>
              </a:spcAft>
              <a:buNone/>
            </a:pPr>
            <a:r>
              <a:t/>
            </a:r>
            <a:endParaRPr/>
          </a:p>
        </p:txBody>
      </p:sp>
      <p:sp>
        <p:nvSpPr>
          <p:cNvPr id="186" name="Google Shape;186;p19"/>
          <p:cNvSpPr/>
          <p:nvPr/>
        </p:nvSpPr>
        <p:spPr>
          <a:xfrm>
            <a:off x="521362" y="695495"/>
            <a:ext cx="1262400" cy="1578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C9C9C0"/>
              </a:buClr>
              <a:buSzPts val="967"/>
              <a:buFont typeface="Tomorrow SemiBold"/>
              <a:buNone/>
            </a:pPr>
            <a:r>
              <a:rPr b="1" i="0" lang="tr" sz="966" u="none" cap="none" strike="noStrike">
                <a:solidFill>
                  <a:srgbClr val="C9C9C0"/>
                </a:solidFill>
                <a:latin typeface="Tomorrow SemiBold"/>
                <a:ea typeface="Tomorrow SemiBold"/>
                <a:cs typeface="Tomorrow SemiBold"/>
                <a:sym typeface="Tomorrow SemiBold"/>
              </a:rPr>
              <a:t>VGGNet</a:t>
            </a:r>
            <a:endParaRPr b="0" i="0" sz="966" u="none" cap="none" strike="noStrike"/>
          </a:p>
        </p:txBody>
      </p:sp>
      <p:sp>
        <p:nvSpPr>
          <p:cNvPr id="187" name="Google Shape;187;p19"/>
          <p:cNvSpPr/>
          <p:nvPr/>
        </p:nvSpPr>
        <p:spPr>
          <a:xfrm>
            <a:off x="521362" y="883556"/>
            <a:ext cx="2341800" cy="84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C9C0"/>
              </a:buClr>
              <a:buSzPts val="763"/>
              <a:buFont typeface="Tomorrow"/>
              <a:buNone/>
            </a:pPr>
            <a:r>
              <a:rPr b="0" i="0" lang="tr" sz="763" u="none" cap="none" strike="noStrike">
                <a:solidFill>
                  <a:srgbClr val="C9C9C0"/>
                </a:solidFill>
                <a:latin typeface="Tomorrow"/>
                <a:ea typeface="Tomorrow"/>
                <a:cs typeface="Tomorrow"/>
                <a:sym typeface="Tomorrow"/>
              </a:rPr>
              <a:t>VGGNet (Simonyan ve Zisserman, 2014), ağın derinliğinin CNN performansını nasıl etkilediğini araştıran öncü bir çalışmadır. VGG19, sekiz ağırlık katmanını 19 ağırlık katmanına genişletti; parametreler 61 milyondan 144 milyona çıktı. ILSVRC veri setinde en iyi-1 doğrulama hatası 29,6'dan 25,5'e düştü.</a:t>
            </a:r>
            <a:endParaRPr b="0" i="0" sz="763" u="none" cap="none" strike="noStrike"/>
          </a:p>
        </p:txBody>
      </p:sp>
      <p:sp>
        <p:nvSpPr>
          <p:cNvPr id="188" name="Google Shape;188;p19"/>
          <p:cNvSpPr/>
          <p:nvPr/>
        </p:nvSpPr>
        <p:spPr>
          <a:xfrm>
            <a:off x="3029882" y="579048"/>
            <a:ext cx="2621100" cy="1414800"/>
          </a:xfrm>
          <a:prstGeom prst="roundRect">
            <a:avLst>
              <a:gd fmla="val 5262" name="adj"/>
            </a:avLst>
          </a:prstGeom>
          <a:solidFill>
            <a:srgbClr val="1D1D1B"/>
          </a:solidFill>
          <a:ln cap="flat" cmpd="sng" w="15500">
            <a:solidFill>
              <a:srgbClr val="555553"/>
            </a:solidFill>
            <a:prstDash val="solid"/>
            <a:round/>
            <a:headEnd len="sm" w="sm" type="none"/>
            <a:tailEnd len="sm" w="sm" type="none"/>
          </a:ln>
        </p:spPr>
        <p:txBody>
          <a:bodyPr anchorCtr="0" anchor="ctr" bIns="93050" lIns="93050" spcFirstLastPara="1" rIns="93050" wrap="square" tIns="93050">
            <a:noAutofit/>
          </a:bodyPr>
          <a:lstStyle/>
          <a:p>
            <a:pPr indent="0" lvl="0" marL="0" rtl="0" algn="l">
              <a:spcBef>
                <a:spcPts val="0"/>
              </a:spcBef>
              <a:spcAft>
                <a:spcPts val="0"/>
              </a:spcAft>
              <a:buNone/>
            </a:pPr>
            <a:r>
              <a:t/>
            </a:r>
            <a:endParaRPr/>
          </a:p>
        </p:txBody>
      </p:sp>
      <p:sp>
        <p:nvSpPr>
          <p:cNvPr id="189" name="Google Shape;189;p19"/>
          <p:cNvSpPr/>
          <p:nvPr/>
        </p:nvSpPr>
        <p:spPr>
          <a:xfrm>
            <a:off x="3014372" y="579048"/>
            <a:ext cx="62100" cy="1414800"/>
          </a:xfrm>
          <a:prstGeom prst="roundRect">
            <a:avLst>
              <a:gd fmla="val 24419" name="adj"/>
            </a:avLst>
          </a:prstGeom>
          <a:solidFill>
            <a:srgbClr val="E1E1DF"/>
          </a:solidFill>
          <a:ln>
            <a:noFill/>
          </a:ln>
        </p:spPr>
        <p:txBody>
          <a:bodyPr anchorCtr="0" anchor="ctr" bIns="93050" lIns="93050" spcFirstLastPara="1" rIns="93050" wrap="square" tIns="93050">
            <a:noAutofit/>
          </a:bodyPr>
          <a:lstStyle/>
          <a:p>
            <a:pPr indent="0" lvl="0" marL="0" rtl="0" algn="l">
              <a:spcBef>
                <a:spcPts val="0"/>
              </a:spcBef>
              <a:spcAft>
                <a:spcPts val="0"/>
              </a:spcAft>
              <a:buNone/>
            </a:pPr>
            <a:r>
              <a:t/>
            </a:r>
            <a:endParaRPr/>
          </a:p>
        </p:txBody>
      </p:sp>
      <p:sp>
        <p:nvSpPr>
          <p:cNvPr id="190" name="Google Shape;190;p19"/>
          <p:cNvSpPr/>
          <p:nvPr/>
        </p:nvSpPr>
        <p:spPr>
          <a:xfrm>
            <a:off x="3192859" y="695495"/>
            <a:ext cx="1531800" cy="1578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C9C9C0"/>
              </a:buClr>
              <a:buSzPts val="967"/>
              <a:buFont typeface="Tomorrow SemiBold"/>
              <a:buNone/>
            </a:pPr>
            <a:r>
              <a:rPr b="1" i="0" lang="tr" sz="966" u="none" cap="none" strike="noStrike">
                <a:solidFill>
                  <a:srgbClr val="C9C9C0"/>
                </a:solidFill>
                <a:latin typeface="Tomorrow SemiBold"/>
                <a:ea typeface="Tomorrow SemiBold"/>
                <a:cs typeface="Tomorrow SemiBold"/>
                <a:sym typeface="Tomorrow SemiBold"/>
              </a:rPr>
              <a:t>GoogLeNet ve Inception</a:t>
            </a:r>
            <a:endParaRPr b="0" i="0" sz="966" u="none" cap="none" strike="noStrike"/>
          </a:p>
        </p:txBody>
      </p:sp>
      <p:sp>
        <p:nvSpPr>
          <p:cNvPr id="191" name="Google Shape;191;p19"/>
          <p:cNvSpPr/>
          <p:nvPr/>
        </p:nvSpPr>
        <p:spPr>
          <a:xfrm>
            <a:off x="3192859" y="883556"/>
            <a:ext cx="2341800" cy="84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C9C0"/>
              </a:buClr>
              <a:buSzPts val="763"/>
              <a:buFont typeface="Tomorrow"/>
              <a:buNone/>
            </a:pPr>
            <a:r>
              <a:rPr b="0" i="0" lang="tr" sz="763" u="none" cap="none" strike="noStrike">
                <a:solidFill>
                  <a:srgbClr val="C9C9C0"/>
                </a:solidFill>
                <a:latin typeface="Tomorrow"/>
                <a:ea typeface="Tomorrow"/>
                <a:cs typeface="Tomorrow"/>
                <a:sym typeface="Tomorrow"/>
              </a:rPr>
              <a:t>GoogLeNet (Szegedy et al., 2015), Google tarafından tanıtıldı. Inception ağ mimarisinin temel fikri, bilgisayarın sağladığı hızlı matris hesaplama özelliğini kullanırken ağı mümkün olduğunca seyrek tutmaktır. GoogLeNet, ILSVRC2014 sınıflandırma görevinde birinci oldu.</a:t>
            </a:r>
            <a:endParaRPr b="0" i="0" sz="763" u="none" cap="none" strike="noStrike"/>
          </a:p>
        </p:txBody>
      </p:sp>
      <p:sp>
        <p:nvSpPr>
          <p:cNvPr id="192" name="Google Shape;192;p19"/>
          <p:cNvSpPr/>
          <p:nvPr/>
        </p:nvSpPr>
        <p:spPr>
          <a:xfrm>
            <a:off x="5701379" y="579048"/>
            <a:ext cx="2621100" cy="1414800"/>
          </a:xfrm>
          <a:prstGeom prst="roundRect">
            <a:avLst>
              <a:gd fmla="val 5262" name="adj"/>
            </a:avLst>
          </a:prstGeom>
          <a:solidFill>
            <a:srgbClr val="1D1D1B"/>
          </a:solidFill>
          <a:ln cap="flat" cmpd="sng" w="15500">
            <a:solidFill>
              <a:srgbClr val="555553"/>
            </a:solidFill>
            <a:prstDash val="solid"/>
            <a:round/>
            <a:headEnd len="sm" w="sm" type="none"/>
            <a:tailEnd len="sm" w="sm" type="none"/>
          </a:ln>
        </p:spPr>
        <p:txBody>
          <a:bodyPr anchorCtr="0" anchor="ctr" bIns="93050" lIns="93050" spcFirstLastPara="1" rIns="93050" wrap="square" tIns="93050">
            <a:noAutofit/>
          </a:bodyPr>
          <a:lstStyle/>
          <a:p>
            <a:pPr indent="0" lvl="0" marL="0" rtl="0" algn="l">
              <a:spcBef>
                <a:spcPts val="0"/>
              </a:spcBef>
              <a:spcAft>
                <a:spcPts val="0"/>
              </a:spcAft>
              <a:buNone/>
            </a:pPr>
            <a:r>
              <a:t/>
            </a:r>
            <a:endParaRPr/>
          </a:p>
        </p:txBody>
      </p:sp>
      <p:sp>
        <p:nvSpPr>
          <p:cNvPr id="193" name="Google Shape;193;p19"/>
          <p:cNvSpPr/>
          <p:nvPr/>
        </p:nvSpPr>
        <p:spPr>
          <a:xfrm>
            <a:off x="5685869" y="579048"/>
            <a:ext cx="62100" cy="1414800"/>
          </a:xfrm>
          <a:prstGeom prst="roundRect">
            <a:avLst>
              <a:gd fmla="val 24419" name="adj"/>
            </a:avLst>
          </a:prstGeom>
          <a:solidFill>
            <a:srgbClr val="E1E1DF"/>
          </a:solidFill>
          <a:ln>
            <a:noFill/>
          </a:ln>
        </p:spPr>
        <p:txBody>
          <a:bodyPr anchorCtr="0" anchor="ctr" bIns="93050" lIns="93050" spcFirstLastPara="1" rIns="93050" wrap="square" tIns="93050">
            <a:noAutofit/>
          </a:bodyPr>
          <a:lstStyle/>
          <a:p>
            <a:pPr indent="0" lvl="0" marL="0" rtl="0" algn="l">
              <a:spcBef>
                <a:spcPts val="0"/>
              </a:spcBef>
              <a:spcAft>
                <a:spcPts val="0"/>
              </a:spcAft>
              <a:buNone/>
            </a:pPr>
            <a:r>
              <a:t/>
            </a:r>
            <a:endParaRPr/>
          </a:p>
        </p:txBody>
      </p:sp>
      <p:sp>
        <p:nvSpPr>
          <p:cNvPr id="194" name="Google Shape;194;p19"/>
          <p:cNvSpPr/>
          <p:nvPr/>
        </p:nvSpPr>
        <p:spPr>
          <a:xfrm>
            <a:off x="5864356" y="695495"/>
            <a:ext cx="1262400" cy="1578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C9C9C0"/>
              </a:buClr>
              <a:buSzPts val="967"/>
              <a:buFont typeface="Tomorrow SemiBold"/>
              <a:buNone/>
            </a:pPr>
            <a:r>
              <a:rPr b="1" i="0" lang="tr" sz="966" u="none" cap="none" strike="noStrike">
                <a:solidFill>
                  <a:srgbClr val="C9C9C0"/>
                </a:solidFill>
                <a:latin typeface="Tomorrow SemiBold"/>
                <a:ea typeface="Tomorrow SemiBold"/>
                <a:cs typeface="Tomorrow SemiBold"/>
                <a:sym typeface="Tomorrow SemiBold"/>
              </a:rPr>
              <a:t>ResNet</a:t>
            </a:r>
            <a:endParaRPr b="0" i="0" sz="966" u="none" cap="none" strike="noStrike"/>
          </a:p>
        </p:txBody>
      </p:sp>
      <p:sp>
        <p:nvSpPr>
          <p:cNvPr id="195" name="Google Shape;195;p19"/>
          <p:cNvSpPr/>
          <p:nvPr/>
        </p:nvSpPr>
        <p:spPr>
          <a:xfrm>
            <a:off x="5864356" y="883556"/>
            <a:ext cx="2341800" cy="993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C9C0"/>
              </a:buClr>
              <a:buSzPts val="763"/>
              <a:buFont typeface="Tomorrow"/>
              <a:buNone/>
            </a:pPr>
            <a:r>
              <a:rPr b="0" i="0" lang="tr" sz="763" u="none" cap="none" strike="noStrike">
                <a:solidFill>
                  <a:srgbClr val="C9C9C0"/>
                </a:solidFill>
                <a:latin typeface="Tomorrow"/>
                <a:ea typeface="Tomorrow"/>
                <a:cs typeface="Tomorrow"/>
                <a:sym typeface="Tomorrow"/>
              </a:rPr>
              <a:t>ResNet (He et al., 2016), CNN'lerin bozulma sorununu aşmak için tanıtıldı. Yazarlar, istenen temel eşlemeyi </a:t>
            </a:r>
            <a:r>
              <a:rPr b="0" i="1" lang="tr" sz="763" u="none" cap="none" strike="noStrike">
                <a:solidFill>
                  <a:srgbClr val="C9C9C0"/>
                </a:solidFill>
                <a:latin typeface="Tomorrow"/>
                <a:ea typeface="Tomorrow"/>
                <a:cs typeface="Tomorrow"/>
                <a:sym typeface="Tomorrow"/>
              </a:rPr>
              <a:t>H(x)</a:t>
            </a:r>
            <a:r>
              <a:rPr b="0" i="0" lang="tr" sz="763" u="none" cap="none" strike="noStrike">
                <a:solidFill>
                  <a:srgbClr val="C9C9C0"/>
                </a:solidFill>
                <a:latin typeface="Tomorrow"/>
                <a:ea typeface="Tomorrow"/>
                <a:cs typeface="Tomorrow"/>
                <a:sym typeface="Tomorrow"/>
              </a:rPr>
              <a:t> öğrenmek yerine artık eşlemeyi </a:t>
            </a:r>
            <a:r>
              <a:rPr b="0" i="1" lang="tr" sz="763" u="none" cap="none" strike="noStrike">
                <a:solidFill>
                  <a:srgbClr val="C9C9C0"/>
                </a:solidFill>
                <a:latin typeface="Tomorrow"/>
                <a:ea typeface="Tomorrow"/>
                <a:cs typeface="Tomorrow"/>
                <a:sym typeface="Tomorrow"/>
              </a:rPr>
              <a:t>F(x) = H(x) - x</a:t>
            </a:r>
            <a:r>
              <a:rPr b="0" i="0" lang="tr" sz="763" u="none" cap="none" strike="noStrike">
                <a:solidFill>
                  <a:srgbClr val="C9C9C0"/>
                </a:solidFill>
                <a:latin typeface="Tomorrow"/>
                <a:ea typeface="Tomorrow"/>
                <a:cs typeface="Tomorrow"/>
                <a:sym typeface="Tomorrow"/>
              </a:rPr>
              <a:t> öğrenmek için kimlik eşlemesini kullanan derin artık öğrenme çerçevesini önerdi. ResNet, ILSVRC2016 yarışmasında %3,57 hata oranıyla en iyi sonucu elde etti.</a:t>
            </a:r>
            <a:endParaRPr b="0" i="0" sz="763" u="none" cap="none" strike="noStrike"/>
          </a:p>
        </p:txBody>
      </p:sp>
      <p:pic>
        <p:nvPicPr>
          <p:cNvPr descr="preencoded.png" id="196" name="Google Shape;196;p19"/>
          <p:cNvPicPr preferRelativeResize="0"/>
          <p:nvPr/>
        </p:nvPicPr>
        <p:blipFill rotWithShape="1">
          <a:blip r:embed="rId3">
            <a:alphaModFix/>
          </a:blip>
          <a:srcRect b="0" l="0" r="0" t="0"/>
          <a:stretch/>
        </p:blipFill>
        <p:spPr>
          <a:xfrm>
            <a:off x="358385" y="2050573"/>
            <a:ext cx="7049345" cy="2233456"/>
          </a:xfrm>
          <a:prstGeom prst="rect">
            <a:avLst/>
          </a:prstGeom>
          <a:noFill/>
          <a:ln>
            <a:noFill/>
          </a:ln>
        </p:spPr>
      </p:pic>
      <p:sp>
        <p:nvSpPr>
          <p:cNvPr id="197" name="Google Shape;197;p19"/>
          <p:cNvSpPr/>
          <p:nvPr/>
        </p:nvSpPr>
        <p:spPr>
          <a:xfrm>
            <a:off x="358385" y="4340742"/>
            <a:ext cx="7964100" cy="242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C9C0"/>
              </a:buClr>
              <a:buSzPts val="763"/>
              <a:buFont typeface="Tomorrow"/>
              <a:buNone/>
            </a:pPr>
            <a:r>
              <a:rPr b="1" i="0" lang="tr" sz="763" u="none" cap="none" strike="noStrike">
                <a:solidFill>
                  <a:srgbClr val="C9C9C0"/>
                </a:solidFill>
                <a:latin typeface="Tomorrow"/>
                <a:ea typeface="Tomorrow"/>
                <a:cs typeface="Tomorrow"/>
                <a:sym typeface="Tomorrow"/>
              </a:rPr>
              <a:t>Şekil 5 |</a:t>
            </a:r>
            <a:r>
              <a:rPr b="0" i="0" lang="tr" sz="763" u="none" cap="none" strike="noStrike">
                <a:solidFill>
                  <a:srgbClr val="C9C9C0"/>
                </a:solidFill>
                <a:latin typeface="Tomorrow"/>
                <a:ea typeface="Tomorrow"/>
                <a:cs typeface="Tomorrow"/>
                <a:sym typeface="Tomorrow"/>
              </a:rPr>
              <a:t> Aktivasyon haritasındaki değerlerin hesaplanmasına bir örnek. Burada adım 1 ve sıfır dolgu 0'dır. Çekirdek, sol üst konumdan başlayarak soldan sağa 1 piksel kaydırılır; kenara ulaştıktan sonra ikinci satırdan başlar ve tüm girdi kapsanana kadar işlemi tekrarlar.</a:t>
            </a:r>
            <a:endParaRPr b="0" i="0" sz="763"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0"/>
          <p:cNvSpPr/>
          <p:nvPr/>
        </p:nvSpPr>
        <p:spPr>
          <a:xfrm>
            <a:off x="404825" y="106952"/>
            <a:ext cx="4486500" cy="3621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EDEDE8"/>
              </a:buClr>
              <a:buSzPts val="1950"/>
              <a:buFont typeface="Tomorrow SemiBold"/>
              <a:buNone/>
            </a:pPr>
            <a:r>
              <a:rPr b="1" i="0" lang="tr" sz="1950" u="none" cap="none" strike="noStrike">
                <a:solidFill>
                  <a:srgbClr val="EDEDE8"/>
                </a:solidFill>
                <a:latin typeface="Tomorrow SemiBold"/>
                <a:ea typeface="Tomorrow SemiBold"/>
                <a:cs typeface="Tomorrow SemiBold"/>
                <a:sym typeface="Tomorrow SemiBold"/>
              </a:rPr>
              <a:t>6. Derin İnanç Ağları (DBN)</a:t>
            </a:r>
            <a:endParaRPr b="0" i="0" sz="1950" u="none" cap="none" strike="noStrike"/>
          </a:p>
        </p:txBody>
      </p:sp>
      <p:sp>
        <p:nvSpPr>
          <p:cNvPr id="203" name="Google Shape;203;p20"/>
          <p:cNvSpPr/>
          <p:nvPr/>
        </p:nvSpPr>
        <p:spPr>
          <a:xfrm>
            <a:off x="404824" y="516278"/>
            <a:ext cx="7825500" cy="237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C9C0"/>
              </a:buClr>
              <a:buSzPts val="750"/>
              <a:buFont typeface="Tomorrow"/>
              <a:buNone/>
            </a:pPr>
            <a:r>
              <a:rPr b="0" i="0" lang="tr" sz="750" u="none" cap="none" strike="noStrike">
                <a:solidFill>
                  <a:srgbClr val="C9C9C0"/>
                </a:solidFill>
                <a:latin typeface="Tomorrow"/>
                <a:ea typeface="Tomorrow"/>
                <a:cs typeface="Tomorrow"/>
                <a:sym typeface="Tomorrow"/>
              </a:rPr>
              <a:t>Derin İnanç Ağı (DBN), farklı türde sinir ağlarını birleştirerek yeni bir sinir ağı modeli oluşturan bir modeldir. Özellikle DBN'ler, Kısıtlı Boltzmann Makinelerini (RBM) Derin İleri Beslemeli Sinir Ağlarıyla (D-FFNN) entegre eder. RBM'ler girdi birimini, D-FFNN'ler ise çıktı birimini oluşturur.</a:t>
            </a:r>
            <a:endParaRPr b="0" i="0" sz="750" u="none" cap="none" strike="noStrike"/>
          </a:p>
        </p:txBody>
      </p:sp>
      <p:sp>
        <p:nvSpPr>
          <p:cNvPr id="204" name="Google Shape;204;p20"/>
          <p:cNvSpPr/>
          <p:nvPr/>
        </p:nvSpPr>
        <p:spPr>
          <a:xfrm>
            <a:off x="532151" y="975828"/>
            <a:ext cx="2390400" cy="2379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EDEDE8"/>
              </a:buClr>
              <a:buSzPts val="950"/>
              <a:buFont typeface="Tomorrow SemiBold"/>
              <a:buNone/>
            </a:pPr>
            <a:r>
              <a:rPr b="1" i="0" lang="tr" sz="950" u="none" cap="none" strike="noStrike">
                <a:solidFill>
                  <a:srgbClr val="EDEDE8"/>
                </a:solidFill>
                <a:latin typeface="Tomorrow SemiBold"/>
                <a:ea typeface="Tomorrow SemiBold"/>
                <a:cs typeface="Tomorrow SemiBold"/>
                <a:sym typeface="Tomorrow SemiBold"/>
              </a:rPr>
              <a:t>6.1. Ön Eğitim Aşaması: Denetimsiz</a:t>
            </a:r>
            <a:endParaRPr b="0" i="0" sz="950" u="none" cap="none" strike="noStrike"/>
          </a:p>
        </p:txBody>
      </p:sp>
      <p:sp>
        <p:nvSpPr>
          <p:cNvPr id="205" name="Google Shape;205;p20"/>
          <p:cNvSpPr/>
          <p:nvPr/>
        </p:nvSpPr>
        <p:spPr>
          <a:xfrm>
            <a:off x="310916" y="1163454"/>
            <a:ext cx="3736200" cy="356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C9C0"/>
              </a:buClr>
              <a:buSzPts val="750"/>
              <a:buFont typeface="Tomorrow"/>
              <a:buNone/>
            </a:pPr>
            <a:r>
              <a:rPr b="0" i="0" lang="tr" sz="750" u="none" cap="none" strike="noStrike">
                <a:solidFill>
                  <a:srgbClr val="C9C9C0"/>
                </a:solidFill>
                <a:latin typeface="Tomorrow"/>
                <a:ea typeface="Tomorrow"/>
                <a:cs typeface="Tomorrow"/>
                <a:sym typeface="Tomorrow"/>
              </a:rPr>
              <a:t>Teorik olarak sinir ağları yalnızca denetimli yöntemler kullanılarak öğrenilebilir. Ancak pratikte bu öğrenme sürecinin çok yavaş olabileceği görülmüştür. Bu nedenle, model parametrelerini başlatmak için denetimsiz öğrenme kullanılır.</a:t>
            </a:r>
            <a:endParaRPr b="0" i="0" sz="750" u="none" cap="none" strike="noStrike"/>
          </a:p>
        </p:txBody>
      </p:sp>
      <p:sp>
        <p:nvSpPr>
          <p:cNvPr id="206" name="Google Shape;206;p20"/>
          <p:cNvSpPr/>
          <p:nvPr/>
        </p:nvSpPr>
        <p:spPr>
          <a:xfrm>
            <a:off x="266666" y="1689006"/>
            <a:ext cx="3736200" cy="356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C9C0"/>
              </a:buClr>
              <a:buSzPts val="750"/>
              <a:buFont typeface="Tomorrow"/>
              <a:buNone/>
            </a:pPr>
            <a:r>
              <a:rPr b="0" i="0" lang="tr" sz="750" u="none" cap="none" strike="noStrike">
                <a:solidFill>
                  <a:srgbClr val="C9C9C0"/>
                </a:solidFill>
                <a:latin typeface="Tomorrow"/>
                <a:ea typeface="Tomorrow"/>
                <a:cs typeface="Tomorrow"/>
                <a:sym typeface="Tomorrow"/>
              </a:rPr>
              <a:t>Kısıtlı Boltzmann Makinesi, bir Boltzmann Makinesinin özel bir türüdür. RBM ile BM arasındaki fark, RBM'lerin bağlantı yapılarında kısıtlamalara sahip olmasıdır; aynı katmandaki düğümler arasında bağlantı olamaz.</a:t>
            </a:r>
            <a:endParaRPr b="0" i="0" sz="750" u="none" cap="none" strike="noStrike"/>
          </a:p>
        </p:txBody>
      </p:sp>
      <p:sp>
        <p:nvSpPr>
          <p:cNvPr id="207" name="Google Shape;207;p20"/>
          <p:cNvSpPr/>
          <p:nvPr/>
        </p:nvSpPr>
        <p:spPr>
          <a:xfrm>
            <a:off x="266666" y="2258898"/>
            <a:ext cx="3736200" cy="118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C9C0"/>
              </a:buClr>
              <a:buSzPts val="750"/>
              <a:buFont typeface="Tomorrow"/>
              <a:buNone/>
            </a:pPr>
            <a:r>
              <a:rPr b="0" i="0" lang="tr" sz="750" u="none" cap="none" strike="noStrike">
                <a:solidFill>
                  <a:srgbClr val="C9C9C0"/>
                </a:solidFill>
                <a:latin typeface="Tomorrow"/>
                <a:ea typeface="Tomorrow"/>
                <a:cs typeface="Tomorrow"/>
                <a:sym typeface="Tomorrow"/>
              </a:rPr>
              <a:t>İkili değerlerle kullanılan bir RBM için enerji fonksiyonu şu şekilde verilir:</a:t>
            </a:r>
            <a:endParaRPr b="0" i="0" sz="750" u="none" cap="none" strike="noStrike"/>
          </a:p>
        </p:txBody>
      </p:sp>
      <p:sp>
        <p:nvSpPr>
          <p:cNvPr id="208" name="Google Shape;208;p20"/>
          <p:cNvSpPr/>
          <p:nvPr/>
        </p:nvSpPr>
        <p:spPr>
          <a:xfrm>
            <a:off x="3430191" y="2214563"/>
            <a:ext cx="3736200" cy="41400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SzPts val="850"/>
              <a:buFont typeface="Arial"/>
              <a:buNone/>
            </a:pPr>
            <a:r>
              <a:t/>
            </a:r>
            <a:endParaRPr b="0" i="0" sz="850" u="none" cap="none" strike="noStrike"/>
          </a:p>
        </p:txBody>
      </p:sp>
      <p:pic>
        <p:nvPicPr>
          <p:cNvPr descr="preencoded.png" id="209" name="Google Shape;209;p20"/>
          <p:cNvPicPr preferRelativeResize="0"/>
          <p:nvPr/>
        </p:nvPicPr>
        <p:blipFill rotWithShape="1">
          <a:blip r:embed="rId3">
            <a:alphaModFix/>
          </a:blip>
          <a:srcRect b="0" l="0" r="0" t="0"/>
          <a:stretch/>
        </p:blipFill>
        <p:spPr>
          <a:xfrm>
            <a:off x="266616" y="2540026"/>
            <a:ext cx="3736299" cy="414099"/>
          </a:xfrm>
          <a:prstGeom prst="rect">
            <a:avLst/>
          </a:prstGeom>
          <a:noFill/>
          <a:ln>
            <a:noFill/>
          </a:ln>
        </p:spPr>
      </p:pic>
      <p:sp>
        <p:nvSpPr>
          <p:cNvPr id="210" name="Google Shape;210;p20"/>
          <p:cNvSpPr/>
          <p:nvPr/>
        </p:nvSpPr>
        <p:spPr>
          <a:xfrm>
            <a:off x="189241" y="3116458"/>
            <a:ext cx="3736200" cy="369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C9C0"/>
              </a:buClr>
              <a:buSzPts val="750"/>
              <a:buFont typeface="Tomorrow"/>
              <a:buNone/>
            </a:pPr>
            <a:r>
              <a:rPr b="0" i="0" lang="tr" sz="750" u="none" cap="none" strike="noStrike">
                <a:solidFill>
                  <a:srgbClr val="C9C9C0"/>
                </a:solidFill>
                <a:latin typeface="Tomorrow"/>
                <a:ea typeface="Tomorrow"/>
                <a:cs typeface="Tomorrow"/>
                <a:sym typeface="Tomorrow"/>
              </a:rPr>
              <a:t>Gradyanın yaklaşık hesaplanması için Karşıt Iraksama (CD) yöntemi kullanılır. Zaten </a:t>
            </a:r>
            <a:r>
              <a:rPr b="0" i="1" lang="tr" sz="750" u="none" cap="none" strike="noStrike">
                <a:solidFill>
                  <a:srgbClr val="C9C9C0"/>
                </a:solidFill>
                <a:latin typeface="Tomorrow"/>
                <a:ea typeface="Tomorrow"/>
                <a:cs typeface="Tomorrow"/>
                <a:sym typeface="Tomorrow"/>
              </a:rPr>
              <a:t>k = 1</a:t>
            </a:r>
            <a:r>
              <a:rPr b="0" i="0" lang="tr" sz="750" u="none" cap="none" strike="noStrike">
                <a:solidFill>
                  <a:srgbClr val="C9C9C0"/>
                </a:solidFill>
                <a:latin typeface="Tomorrow"/>
                <a:ea typeface="Tomorrow"/>
                <a:cs typeface="Tomorrow"/>
                <a:sym typeface="Tomorrow"/>
              </a:rPr>
              <a:t> değeri bile ön eğitim için tatmin edici yaklaşımlar sağlayabilir (Carreira-Perpinan ve Hinton, 2005).</a:t>
            </a:r>
            <a:endParaRPr b="0" i="0" sz="750" u="none" cap="none" strike="noStrike"/>
          </a:p>
        </p:txBody>
      </p:sp>
      <p:pic>
        <p:nvPicPr>
          <p:cNvPr descr="preencoded.png" id="211" name="Google Shape;211;p20"/>
          <p:cNvPicPr preferRelativeResize="0"/>
          <p:nvPr/>
        </p:nvPicPr>
        <p:blipFill rotWithShape="1">
          <a:blip r:embed="rId4">
            <a:alphaModFix/>
          </a:blip>
          <a:srcRect b="0" l="0" r="0" t="0"/>
          <a:stretch/>
        </p:blipFill>
        <p:spPr>
          <a:xfrm>
            <a:off x="4326141" y="1579086"/>
            <a:ext cx="3736299" cy="207561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1"/>
          <p:cNvSpPr/>
          <p:nvPr/>
        </p:nvSpPr>
        <p:spPr>
          <a:xfrm>
            <a:off x="312487" y="158662"/>
            <a:ext cx="4259400" cy="3567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EDEDE8"/>
              </a:buClr>
              <a:buSzPts val="950"/>
              <a:buFont typeface="Tomorrow SemiBold"/>
              <a:buNone/>
            </a:pPr>
            <a:r>
              <a:rPr b="1" i="0" lang="tr" sz="1350" u="none" cap="none" strike="noStrike">
                <a:solidFill>
                  <a:srgbClr val="EDEDE8"/>
                </a:solidFill>
                <a:latin typeface="Tomorrow SemiBold"/>
                <a:ea typeface="Tomorrow SemiBold"/>
                <a:cs typeface="Tomorrow SemiBold"/>
                <a:sym typeface="Tomorrow SemiBold"/>
              </a:rPr>
              <a:t>6.2. İnce Ayar Aşaması: Denetimli</a:t>
            </a:r>
            <a:endParaRPr b="0" i="0" sz="1350" u="none" cap="none" strike="noStrike"/>
          </a:p>
        </p:txBody>
      </p:sp>
      <p:sp>
        <p:nvSpPr>
          <p:cNvPr id="217" name="Google Shape;217;p21"/>
          <p:cNvSpPr/>
          <p:nvPr/>
        </p:nvSpPr>
        <p:spPr>
          <a:xfrm>
            <a:off x="264988" y="515341"/>
            <a:ext cx="3791700" cy="356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C9C0"/>
              </a:buClr>
              <a:buSzPts val="750"/>
              <a:buFont typeface="Tomorrow"/>
              <a:buNone/>
            </a:pPr>
            <a:r>
              <a:rPr b="0" i="0" lang="tr" sz="750" u="none" cap="none" strike="noStrike">
                <a:solidFill>
                  <a:srgbClr val="C9C9C0"/>
                </a:solidFill>
                <a:latin typeface="Tomorrow"/>
                <a:ea typeface="Tomorrow"/>
                <a:cs typeface="Tomorrow"/>
                <a:sym typeface="Tomorrow"/>
              </a:rPr>
              <a:t>Sinir ağının parametrelerinin başlatılmasının ardından bu parametreler ince ayar yapılabilir. Bu adım için denetimli bir öğrenme yaklaşımı kullanılır; yani ön eğitim aşamasında göz ardı edilen örneklerin etiketleri artık kullanılır.</a:t>
            </a:r>
            <a:endParaRPr b="0" i="0" sz="750" u="none" cap="none" strike="noStrike"/>
          </a:p>
        </p:txBody>
      </p:sp>
      <p:sp>
        <p:nvSpPr>
          <p:cNvPr id="218" name="Google Shape;218;p21"/>
          <p:cNvSpPr/>
          <p:nvPr/>
        </p:nvSpPr>
        <p:spPr>
          <a:xfrm>
            <a:off x="312463" y="1056219"/>
            <a:ext cx="3791700" cy="356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C9C0"/>
              </a:buClr>
              <a:buSzPts val="750"/>
              <a:buFont typeface="Tomorrow"/>
              <a:buNone/>
            </a:pPr>
            <a:r>
              <a:rPr b="0" i="0" lang="tr" sz="750" u="none" cap="none" strike="noStrike">
                <a:solidFill>
                  <a:srgbClr val="C9C9C0"/>
                </a:solidFill>
                <a:latin typeface="Tomorrow"/>
                <a:ea typeface="Tomorrow"/>
                <a:cs typeface="Tomorrow"/>
                <a:sym typeface="Tomorrow"/>
              </a:rPr>
              <a:t>Model öğrenmek için bir hata fonksiyonu (kayıp fonksiyonu veya bazen amaç fonksiyonu olarak da adlandırılır) minimize edilir. Böyle bir hata fonksiyonuna örnek olarak ortalama kare hatası (MSE) verilebilir:</a:t>
            </a:r>
            <a:endParaRPr b="0" i="0" sz="750" u="none" cap="none" strike="noStrike"/>
          </a:p>
        </p:txBody>
      </p:sp>
      <p:sp>
        <p:nvSpPr>
          <p:cNvPr id="219" name="Google Shape;219;p21"/>
          <p:cNvSpPr/>
          <p:nvPr/>
        </p:nvSpPr>
        <p:spPr>
          <a:xfrm>
            <a:off x="1702963" y="1254571"/>
            <a:ext cx="3791700" cy="39570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SzPts val="850"/>
              <a:buFont typeface="Arial"/>
              <a:buNone/>
            </a:pPr>
            <a:r>
              <a:t/>
            </a:r>
            <a:endParaRPr b="0" i="0" sz="850" u="none" cap="none" strike="noStrike"/>
          </a:p>
        </p:txBody>
      </p:sp>
      <p:pic>
        <p:nvPicPr>
          <p:cNvPr descr="preencoded.png" id="220" name="Google Shape;220;p21"/>
          <p:cNvPicPr preferRelativeResize="0"/>
          <p:nvPr/>
        </p:nvPicPr>
        <p:blipFill rotWithShape="1">
          <a:blip r:embed="rId3">
            <a:alphaModFix/>
          </a:blip>
          <a:srcRect b="0" l="0" r="0" t="0"/>
          <a:stretch/>
        </p:blipFill>
        <p:spPr>
          <a:xfrm>
            <a:off x="264951" y="1630859"/>
            <a:ext cx="3791782" cy="395645"/>
          </a:xfrm>
          <a:prstGeom prst="rect">
            <a:avLst/>
          </a:prstGeom>
          <a:noFill/>
          <a:ln>
            <a:noFill/>
          </a:ln>
        </p:spPr>
      </p:pic>
      <p:sp>
        <p:nvSpPr>
          <p:cNvPr id="221" name="Google Shape;221;p21"/>
          <p:cNvSpPr/>
          <p:nvPr/>
        </p:nvSpPr>
        <p:spPr>
          <a:xfrm>
            <a:off x="312463" y="2244424"/>
            <a:ext cx="3791700" cy="475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C9C0"/>
              </a:buClr>
              <a:buSzPts val="750"/>
              <a:buFont typeface="Tomorrow"/>
              <a:buNone/>
            </a:pPr>
            <a:r>
              <a:rPr b="0" i="0" lang="tr" sz="750" u="none" cap="none" strike="noStrike">
                <a:solidFill>
                  <a:srgbClr val="C9C9C0"/>
                </a:solidFill>
                <a:latin typeface="Tomorrow"/>
                <a:ea typeface="Tomorrow"/>
                <a:cs typeface="Tomorrow"/>
                <a:sym typeface="Tomorrow"/>
              </a:rPr>
              <a:t>Geri yayılım algoritması ile SGD kullanılarak parametreler güncellenir. </a:t>
            </a:r>
            <a:r>
              <a:rPr b="1" i="0" lang="tr" sz="750" u="none" cap="none" strike="noStrike">
                <a:solidFill>
                  <a:srgbClr val="C9C9C0"/>
                </a:solidFill>
                <a:latin typeface="Tomorrow"/>
                <a:ea typeface="Tomorrow"/>
                <a:cs typeface="Tomorrow"/>
                <a:sym typeface="Tomorrow"/>
              </a:rPr>
              <a:t>iRprop+</a:t>
            </a:r>
            <a:r>
              <a:rPr b="0" i="0" lang="tr" sz="750" u="none" cap="none" strike="noStrike">
                <a:solidFill>
                  <a:srgbClr val="C9C9C0"/>
                </a:solidFill>
                <a:latin typeface="Tomorrow"/>
                <a:ea typeface="Tomorrow"/>
                <a:cs typeface="Tomorrow"/>
                <a:sym typeface="Tomorrow"/>
              </a:rPr>
              <a:t> algoritması, temel geri yayılım (Bprop) algoritmasını hızlandırmak için orijinal olarak tanıtılan geri yayılım algoritmasının bir modifikasyonudur ve Bprop'tan daha hızlı olduğu gösterilmiştir.</a:t>
            </a:r>
            <a:endParaRPr b="0" i="0" sz="750" u="none" cap="none" strike="noStrike"/>
          </a:p>
        </p:txBody>
      </p:sp>
      <p:pic>
        <p:nvPicPr>
          <p:cNvPr descr="preencoded.png" id="222" name="Google Shape;222;p21"/>
          <p:cNvPicPr preferRelativeResize="0"/>
          <p:nvPr/>
        </p:nvPicPr>
        <p:blipFill rotWithShape="1">
          <a:blip r:embed="rId4">
            <a:alphaModFix/>
          </a:blip>
          <a:srcRect b="0" l="0" r="0" t="0"/>
          <a:stretch/>
        </p:blipFill>
        <p:spPr>
          <a:xfrm>
            <a:off x="264951" y="3009556"/>
            <a:ext cx="3791782" cy="1911119"/>
          </a:xfrm>
          <a:prstGeom prst="rect">
            <a:avLst/>
          </a:prstGeom>
          <a:noFill/>
          <a:ln>
            <a:noFill/>
          </a:ln>
        </p:spPr>
      </p:pic>
      <p:pic>
        <p:nvPicPr>
          <p:cNvPr descr="preencoded.png" id="223" name="Google Shape;223;p21"/>
          <p:cNvPicPr preferRelativeResize="0"/>
          <p:nvPr/>
        </p:nvPicPr>
        <p:blipFill rotWithShape="1">
          <a:blip r:embed="rId5">
            <a:alphaModFix/>
          </a:blip>
          <a:srcRect b="0" l="0" r="0" t="0"/>
          <a:stretch/>
        </p:blipFill>
        <p:spPr>
          <a:xfrm>
            <a:off x="4660500" y="158650"/>
            <a:ext cx="3903150" cy="2727800"/>
          </a:xfrm>
          <a:prstGeom prst="rect">
            <a:avLst/>
          </a:prstGeom>
          <a:noFill/>
          <a:ln>
            <a:noFill/>
          </a:ln>
        </p:spPr>
      </p:pic>
      <p:sp>
        <p:nvSpPr>
          <p:cNvPr id="224" name="Google Shape;224;p21"/>
          <p:cNvSpPr/>
          <p:nvPr/>
        </p:nvSpPr>
        <p:spPr>
          <a:xfrm>
            <a:off x="4660488" y="3056721"/>
            <a:ext cx="3791700" cy="356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C9C0"/>
              </a:buClr>
              <a:buSzPts val="750"/>
              <a:buFont typeface="Tomorrow"/>
              <a:buNone/>
            </a:pPr>
            <a:r>
              <a:rPr b="0" i="0" lang="tr" sz="750" u="none" cap="none" strike="noStrike">
                <a:solidFill>
                  <a:srgbClr val="C9C9C0"/>
                </a:solidFill>
                <a:latin typeface="Tomorrow"/>
                <a:ea typeface="Tomorrow"/>
                <a:cs typeface="Tomorrow"/>
                <a:sym typeface="Tomorrow"/>
              </a:rPr>
              <a:t>DBN'ler; doğal dil işleme (Sarikaya et al., 2014), akustik modelleme (Mohamed et al., 2011), görüntü tanıma (Hinton et al., 2006) ve hesaplamalı biyoloji (Zhang S. et al., 2015) gibi pek çok uygulama görevi için başarıyla kullanılmıştır.</a:t>
            </a:r>
            <a:endParaRPr b="0" i="0" sz="750" u="none" cap="none" strike="noStrike"/>
          </a:p>
        </p:txBody>
      </p:sp>
      <p:pic>
        <p:nvPicPr>
          <p:cNvPr descr="preencoded.png" id="225" name="Google Shape;225;p21"/>
          <p:cNvPicPr preferRelativeResize="0"/>
          <p:nvPr/>
        </p:nvPicPr>
        <p:blipFill rotWithShape="1">
          <a:blip r:embed="rId6">
            <a:alphaModFix/>
          </a:blip>
          <a:srcRect b="0" l="0" r="0" t="0"/>
          <a:stretch/>
        </p:blipFill>
        <p:spPr>
          <a:xfrm>
            <a:off x="4497550" y="3548475"/>
            <a:ext cx="4353701" cy="159503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2"/>
          <p:cNvSpPr/>
          <p:nvPr/>
        </p:nvSpPr>
        <p:spPr>
          <a:xfrm>
            <a:off x="1" y="0"/>
            <a:ext cx="4791900" cy="3567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EDEDE8"/>
              </a:buClr>
              <a:buSzPts val="1950"/>
              <a:buFont typeface="Tomorrow SemiBold"/>
              <a:buNone/>
            </a:pPr>
            <a:r>
              <a:rPr b="1" i="0" lang="tr" sz="1950" u="none" cap="none" strike="noStrike">
                <a:solidFill>
                  <a:srgbClr val="EDEDE8"/>
                </a:solidFill>
                <a:latin typeface="Tomorrow SemiBold"/>
                <a:ea typeface="Tomorrow SemiBold"/>
                <a:cs typeface="Tomorrow SemiBold"/>
                <a:sym typeface="Tomorrow SemiBold"/>
              </a:rPr>
              <a:t>9. Tartışma ve Sonuç</a:t>
            </a:r>
            <a:endParaRPr b="0" i="0" sz="1950" u="none" cap="none" strike="noStrike"/>
          </a:p>
        </p:txBody>
      </p:sp>
      <p:sp>
        <p:nvSpPr>
          <p:cNvPr id="231" name="Google Shape;231;p22"/>
          <p:cNvSpPr/>
          <p:nvPr/>
        </p:nvSpPr>
        <p:spPr>
          <a:xfrm>
            <a:off x="-1" y="384567"/>
            <a:ext cx="7825500" cy="770400"/>
          </a:xfrm>
          <a:prstGeom prst="roundRect">
            <a:avLst>
              <a:gd fmla="val 1932" name="adj"/>
            </a:avLst>
          </a:prstGeom>
          <a:solidFill>
            <a:srgbClr val="1D1D1B"/>
          </a:solidFill>
          <a:ln cap="flat" cmpd="sng" w="15225">
            <a:solidFill>
              <a:srgbClr val="5555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2"/>
          <p:cNvSpPr/>
          <p:nvPr/>
        </p:nvSpPr>
        <p:spPr>
          <a:xfrm>
            <a:off x="15239" y="381957"/>
            <a:ext cx="396900" cy="740100"/>
          </a:xfrm>
          <a:prstGeom prst="rect">
            <a:avLst/>
          </a:pr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2"/>
          <p:cNvSpPr/>
          <p:nvPr/>
        </p:nvSpPr>
        <p:spPr>
          <a:xfrm>
            <a:off x="461598" y="498967"/>
            <a:ext cx="3821400" cy="2697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C9C9C0"/>
              </a:buClr>
              <a:buSzPts val="950"/>
              <a:buFont typeface="Tomorrow SemiBold"/>
              <a:buNone/>
            </a:pPr>
            <a:r>
              <a:rPr b="1" i="0" lang="tr" sz="950" u="none" cap="none" strike="noStrike">
                <a:solidFill>
                  <a:srgbClr val="C9C9C0"/>
                </a:solidFill>
                <a:latin typeface="Tomorrow SemiBold"/>
                <a:ea typeface="Tomorrow SemiBold"/>
                <a:cs typeface="Tomorrow SemiBold"/>
                <a:sym typeface="Tomorrow SemiBold"/>
              </a:rPr>
              <a:t>9.1. Derin Öğrenmenin Genel Özellikleri</a:t>
            </a:r>
            <a:endParaRPr b="0" i="0" sz="950" u="none" cap="none" strike="noStrike"/>
          </a:p>
        </p:txBody>
      </p:sp>
      <p:sp>
        <p:nvSpPr>
          <p:cNvPr id="234" name="Google Shape;234;p22"/>
          <p:cNvSpPr/>
          <p:nvPr/>
        </p:nvSpPr>
        <p:spPr>
          <a:xfrm>
            <a:off x="461604" y="683771"/>
            <a:ext cx="7249500" cy="356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C9C0"/>
              </a:buClr>
              <a:buSzPts val="750"/>
              <a:buFont typeface="Tomorrow"/>
              <a:buNone/>
            </a:pPr>
            <a:r>
              <a:rPr b="0" i="0" lang="tr" sz="750" u="none" cap="none" strike="noStrike">
                <a:solidFill>
                  <a:srgbClr val="C9C9C0"/>
                </a:solidFill>
                <a:latin typeface="Tomorrow"/>
                <a:ea typeface="Tomorrow"/>
                <a:cs typeface="Tomorrow"/>
                <a:sym typeface="Tomorrow"/>
              </a:rPr>
              <a:t>Tüm derin öğrenme modellerinin ortak bir özelliği, </a:t>
            </a:r>
            <a:r>
              <a:rPr b="1" i="0" lang="tr" sz="750" u="none" cap="none" strike="noStrike">
                <a:solidFill>
                  <a:srgbClr val="C9C9C0"/>
                </a:solidFill>
                <a:latin typeface="Tomorrow"/>
                <a:ea typeface="Tomorrow"/>
                <a:cs typeface="Tomorrow"/>
                <a:sym typeface="Tomorrow"/>
              </a:rPr>
              <a:t>temsil öğrenimi</a:t>
            </a:r>
            <a:r>
              <a:rPr b="0" i="0" lang="tr" sz="750" u="none" cap="none" strike="noStrike">
                <a:solidFill>
                  <a:srgbClr val="C9C9C0"/>
                </a:solidFill>
                <a:latin typeface="Tomorrow"/>
                <a:ea typeface="Tomorrow"/>
                <a:cs typeface="Tomorrow"/>
                <a:sym typeface="Tomorrow"/>
              </a:rPr>
              <a:t> gerçekleştirmeleridir. Derin öğrenme modelleri, nihai temsili tek bir adımda değil, gizli katmanlar arasındaki çok düzeyli temsil dönüşümlerine karşılık gelen birden fazla adımda öğrenir. Katmanlar arasındaki ardışık dönüşümler doğrusal değildir; bu da modelin ifade gücünü artırır.</a:t>
            </a:r>
            <a:endParaRPr b="0" i="0" sz="750" u="none" cap="none" strike="noStrike"/>
          </a:p>
        </p:txBody>
      </p:sp>
      <p:sp>
        <p:nvSpPr>
          <p:cNvPr id="235" name="Google Shape;235;p22"/>
          <p:cNvSpPr/>
          <p:nvPr/>
        </p:nvSpPr>
        <p:spPr>
          <a:xfrm>
            <a:off x="-1" y="1147301"/>
            <a:ext cx="7825500" cy="770400"/>
          </a:xfrm>
          <a:prstGeom prst="roundRect">
            <a:avLst>
              <a:gd fmla="val 1932" name="adj"/>
            </a:avLst>
          </a:prstGeom>
          <a:solidFill>
            <a:srgbClr val="1D1D1B"/>
          </a:solidFill>
          <a:ln cap="flat" cmpd="sng" w="15225">
            <a:solidFill>
              <a:srgbClr val="5555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2"/>
          <p:cNvSpPr/>
          <p:nvPr/>
        </p:nvSpPr>
        <p:spPr>
          <a:xfrm>
            <a:off x="15239" y="1162541"/>
            <a:ext cx="396900" cy="740100"/>
          </a:xfrm>
          <a:prstGeom prst="rect">
            <a:avLst/>
          </a:pr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2"/>
          <p:cNvSpPr/>
          <p:nvPr/>
        </p:nvSpPr>
        <p:spPr>
          <a:xfrm>
            <a:off x="461597" y="1261729"/>
            <a:ext cx="3401100" cy="2697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C9C9C0"/>
              </a:buClr>
              <a:buSzPts val="950"/>
              <a:buFont typeface="Tomorrow SemiBold"/>
              <a:buNone/>
            </a:pPr>
            <a:r>
              <a:rPr b="1" i="0" lang="tr" sz="950" u="none" cap="none" strike="noStrike">
                <a:solidFill>
                  <a:srgbClr val="C9C9C0"/>
                </a:solidFill>
                <a:latin typeface="Tomorrow SemiBold"/>
                <a:ea typeface="Tomorrow SemiBold"/>
                <a:cs typeface="Tomorrow SemiBold"/>
                <a:sym typeface="Tomorrow SemiBold"/>
              </a:rPr>
              <a:t>9.2. Modeller Arasındaki Farklar</a:t>
            </a:r>
            <a:endParaRPr b="0" i="0" sz="950" u="none" cap="none" strike="noStrike"/>
          </a:p>
        </p:txBody>
      </p:sp>
      <p:sp>
        <p:nvSpPr>
          <p:cNvPr id="238" name="Google Shape;238;p22"/>
          <p:cNvSpPr/>
          <p:nvPr/>
        </p:nvSpPr>
        <p:spPr>
          <a:xfrm>
            <a:off x="461604" y="1446505"/>
            <a:ext cx="7249500" cy="356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C9C0"/>
              </a:buClr>
              <a:buSzPts val="750"/>
              <a:buFont typeface="Tomorrow"/>
              <a:buNone/>
            </a:pPr>
            <a:r>
              <a:rPr b="0" i="0" lang="tr" sz="750" u="none" cap="none" strike="noStrike">
                <a:solidFill>
                  <a:srgbClr val="C9C9C0"/>
                </a:solidFill>
                <a:latin typeface="Tomorrow"/>
                <a:ea typeface="Tomorrow"/>
                <a:cs typeface="Tomorrow"/>
                <a:sym typeface="Tomorrow"/>
              </a:rPr>
              <a:t>CNN'ler, bilgisayarla görme görevleri için baskın derin öğrenme modelleridir. RNN'ler ise konuşma ve dil işleme gibi sıralı veriler için kullanılır. D-FFNN'lerin ilaç toksisitesi ve ilaç hedef tahminleri için diğer yöntemleri geride bıraktığı gösterilmiştir. Derin öğrenme modellerinin uygulama alanları birbirini dışlamaz; en iyi model çoğu zaman yalnızca karşılaştırmalı bir çalışma yapılarak bulunabilir.</a:t>
            </a:r>
            <a:endParaRPr b="0" i="0" sz="750" u="none" cap="none" strike="noStrike"/>
          </a:p>
        </p:txBody>
      </p:sp>
      <p:sp>
        <p:nvSpPr>
          <p:cNvPr id="239" name="Google Shape;239;p22"/>
          <p:cNvSpPr/>
          <p:nvPr/>
        </p:nvSpPr>
        <p:spPr>
          <a:xfrm>
            <a:off x="-1" y="1938672"/>
            <a:ext cx="7825500" cy="770400"/>
          </a:xfrm>
          <a:prstGeom prst="roundRect">
            <a:avLst>
              <a:gd fmla="val 1932" name="adj"/>
            </a:avLst>
          </a:prstGeom>
          <a:solidFill>
            <a:srgbClr val="1D1D1B"/>
          </a:solidFill>
          <a:ln cap="flat" cmpd="sng" w="15225">
            <a:solidFill>
              <a:srgbClr val="5555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2"/>
          <p:cNvSpPr/>
          <p:nvPr/>
        </p:nvSpPr>
        <p:spPr>
          <a:xfrm>
            <a:off x="15239" y="1953912"/>
            <a:ext cx="396900" cy="740100"/>
          </a:xfrm>
          <a:prstGeom prst="rect">
            <a:avLst/>
          </a:pr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2"/>
          <p:cNvSpPr/>
          <p:nvPr/>
        </p:nvSpPr>
        <p:spPr>
          <a:xfrm>
            <a:off x="461599" y="2053101"/>
            <a:ext cx="3821400" cy="1551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C9C9C0"/>
              </a:buClr>
              <a:buSzPts val="950"/>
              <a:buFont typeface="Tomorrow SemiBold"/>
              <a:buNone/>
            </a:pPr>
            <a:r>
              <a:rPr b="1" i="0" lang="tr" sz="950" u="none" cap="none" strike="noStrike">
                <a:solidFill>
                  <a:srgbClr val="C9C9C0"/>
                </a:solidFill>
                <a:latin typeface="Tomorrow SemiBold"/>
                <a:ea typeface="Tomorrow SemiBold"/>
                <a:cs typeface="Tomorrow SemiBold"/>
                <a:sym typeface="Tomorrow SemiBold"/>
              </a:rPr>
              <a:t>9.3. Yorumlanabilir Modeller ve Kara Kutu Modeller</a:t>
            </a:r>
            <a:endParaRPr b="0" i="0" sz="950" u="none" cap="none" strike="noStrike"/>
          </a:p>
        </p:txBody>
      </p:sp>
      <p:sp>
        <p:nvSpPr>
          <p:cNvPr id="242" name="Google Shape;242;p22"/>
          <p:cNvSpPr/>
          <p:nvPr/>
        </p:nvSpPr>
        <p:spPr>
          <a:xfrm>
            <a:off x="461604" y="2237876"/>
            <a:ext cx="7249500" cy="356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C9C0"/>
              </a:buClr>
              <a:buSzPts val="750"/>
              <a:buFont typeface="Tomorrow"/>
              <a:buNone/>
            </a:pPr>
            <a:r>
              <a:rPr b="0" i="0" lang="tr" sz="750" u="none" cap="none" strike="noStrike">
                <a:solidFill>
                  <a:srgbClr val="C9C9C0"/>
                </a:solidFill>
                <a:latin typeface="Tomorrow"/>
                <a:ea typeface="Tomorrow"/>
                <a:cs typeface="Tomorrow"/>
                <a:sym typeface="Tomorrow"/>
              </a:rPr>
              <a:t>Bu incelemede ele alınan modeller, biyolojik nöronların fizyolojik modellerini sunmayı ya da yorumlanabilir bir yapı sağlamayı amaçlamaz; bunlar tahmin modelleridir. Son zamanlarda yorumlanabilir veya açıklanabilir YZ'ye (XAI) büyük ilgi duyulmaktadır. Özellikle klinik ve tıp alanında, hastalar etkilendiğinden istatistiksel tahmin modellerinin anlaşılabilir kararlar vermesi istenmektedir.</a:t>
            </a:r>
            <a:endParaRPr b="0" i="0" sz="750" u="none" cap="none" strike="noStrike"/>
          </a:p>
        </p:txBody>
      </p:sp>
      <p:sp>
        <p:nvSpPr>
          <p:cNvPr id="243" name="Google Shape;243;p22"/>
          <p:cNvSpPr/>
          <p:nvPr/>
        </p:nvSpPr>
        <p:spPr>
          <a:xfrm>
            <a:off x="-1" y="2744331"/>
            <a:ext cx="7825500" cy="770400"/>
          </a:xfrm>
          <a:prstGeom prst="roundRect">
            <a:avLst>
              <a:gd fmla="val 1932" name="adj"/>
            </a:avLst>
          </a:prstGeom>
          <a:solidFill>
            <a:srgbClr val="1D1D1B"/>
          </a:solidFill>
          <a:ln cap="flat" cmpd="sng" w="15225">
            <a:solidFill>
              <a:srgbClr val="5555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2"/>
          <p:cNvSpPr/>
          <p:nvPr/>
        </p:nvSpPr>
        <p:spPr>
          <a:xfrm>
            <a:off x="15239" y="2759571"/>
            <a:ext cx="396900" cy="740100"/>
          </a:xfrm>
          <a:prstGeom prst="rect">
            <a:avLst/>
          </a:pr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2"/>
          <p:cNvSpPr/>
          <p:nvPr/>
        </p:nvSpPr>
        <p:spPr>
          <a:xfrm>
            <a:off x="461598" y="2858737"/>
            <a:ext cx="2803800" cy="1551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C9C9C0"/>
              </a:buClr>
              <a:buSzPts val="950"/>
              <a:buFont typeface="Tomorrow SemiBold"/>
              <a:buNone/>
            </a:pPr>
            <a:r>
              <a:rPr b="1" i="0" lang="tr" sz="950" u="none" cap="none" strike="noStrike">
                <a:solidFill>
                  <a:srgbClr val="C9C9C0"/>
                </a:solidFill>
                <a:latin typeface="Tomorrow SemiBold"/>
                <a:ea typeface="Tomorrow SemiBold"/>
                <a:cs typeface="Tomorrow SemiBold"/>
                <a:sym typeface="Tomorrow SemiBold"/>
              </a:rPr>
              <a:t>9.4. Büyük Veri ve Küçük Veri</a:t>
            </a:r>
            <a:endParaRPr b="0" i="0" sz="950" u="none" cap="none" strike="noStrike"/>
          </a:p>
        </p:txBody>
      </p:sp>
      <p:sp>
        <p:nvSpPr>
          <p:cNvPr id="246" name="Google Shape;246;p22"/>
          <p:cNvSpPr/>
          <p:nvPr/>
        </p:nvSpPr>
        <p:spPr>
          <a:xfrm>
            <a:off x="461604" y="3043535"/>
            <a:ext cx="7249500" cy="356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C9C0"/>
              </a:buClr>
              <a:buSzPts val="750"/>
              <a:buFont typeface="Tomorrow"/>
              <a:buNone/>
            </a:pPr>
            <a:r>
              <a:rPr b="0" i="0" lang="tr" sz="750" u="none" cap="none" strike="noStrike">
                <a:solidFill>
                  <a:srgbClr val="C9C9C0"/>
                </a:solidFill>
                <a:latin typeface="Tomorrow"/>
                <a:ea typeface="Tomorrow"/>
                <a:cs typeface="Tomorrow"/>
                <a:sym typeface="Tomorrow"/>
              </a:rPr>
              <a:t>Pratik uygulamalar için mevcut verilerin derin öğrenme modellerini kullanmaya yetecek kadar yeterli olup olmadığını değerlendirmek gerekir. Kural olarak, derin öğrenme modelleri on binlerce örnek için genellikle iyi performans gösterir. EMNIST veri analizi, %5'in altında bir sınıflandırma hatası elde etmek için 25.000'den fazla eğitim örneğine ihtiyaç duyulduğunu göstermiştir.</a:t>
            </a:r>
            <a:endParaRPr b="0" i="0" sz="750" u="none" cap="none" strike="noStrike"/>
          </a:p>
        </p:txBody>
      </p:sp>
      <p:sp>
        <p:nvSpPr>
          <p:cNvPr id="247" name="Google Shape;247;p22"/>
          <p:cNvSpPr/>
          <p:nvPr/>
        </p:nvSpPr>
        <p:spPr>
          <a:xfrm>
            <a:off x="-1" y="3513564"/>
            <a:ext cx="7825500" cy="770400"/>
          </a:xfrm>
          <a:prstGeom prst="roundRect">
            <a:avLst>
              <a:gd fmla="val 1932" name="adj"/>
            </a:avLst>
          </a:prstGeom>
          <a:solidFill>
            <a:srgbClr val="1D1D1B"/>
          </a:solidFill>
          <a:ln cap="flat" cmpd="sng" w="15225">
            <a:solidFill>
              <a:srgbClr val="5555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2"/>
          <p:cNvSpPr/>
          <p:nvPr/>
        </p:nvSpPr>
        <p:spPr>
          <a:xfrm>
            <a:off x="15239" y="3528804"/>
            <a:ext cx="396900" cy="740100"/>
          </a:xfrm>
          <a:prstGeom prst="rect">
            <a:avLst/>
          </a:pr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2"/>
          <p:cNvSpPr/>
          <p:nvPr/>
        </p:nvSpPr>
        <p:spPr>
          <a:xfrm>
            <a:off x="461604" y="3627982"/>
            <a:ext cx="1240500" cy="1551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C9C9C0"/>
              </a:buClr>
              <a:buSzPts val="950"/>
              <a:buFont typeface="Tomorrow SemiBold"/>
              <a:buNone/>
            </a:pPr>
            <a:r>
              <a:rPr b="1" i="0" lang="tr" sz="950" u="none" cap="none" strike="noStrike">
                <a:solidFill>
                  <a:srgbClr val="C9C9C0"/>
                </a:solidFill>
                <a:latin typeface="Tomorrow SemiBold"/>
                <a:ea typeface="Tomorrow SemiBold"/>
                <a:cs typeface="Tomorrow SemiBold"/>
                <a:sym typeface="Tomorrow SemiBold"/>
              </a:rPr>
              <a:t>9.5. Veri Türleri</a:t>
            </a:r>
            <a:endParaRPr b="0" i="0" sz="950" u="none" cap="none" strike="noStrike"/>
          </a:p>
        </p:txBody>
      </p:sp>
      <p:sp>
        <p:nvSpPr>
          <p:cNvPr id="250" name="Google Shape;250;p22"/>
          <p:cNvSpPr/>
          <p:nvPr/>
        </p:nvSpPr>
        <p:spPr>
          <a:xfrm>
            <a:off x="461604" y="3812768"/>
            <a:ext cx="7249500" cy="356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C9C0"/>
              </a:buClr>
              <a:buSzPts val="750"/>
              <a:buFont typeface="Tomorrow"/>
              <a:buNone/>
            </a:pPr>
            <a:r>
              <a:rPr b="0" i="0" lang="tr" sz="750" u="none" cap="none" strike="noStrike">
                <a:solidFill>
                  <a:srgbClr val="C9C9C0"/>
                </a:solidFill>
                <a:latin typeface="Tomorrow"/>
                <a:ea typeface="Tomorrow"/>
                <a:cs typeface="Tomorrow"/>
                <a:sym typeface="Tomorrow"/>
              </a:rPr>
              <a:t>Örnek boyutu sorunuyla ilgili bir diğer sorun da veri türüdür. Metin, görüntü, ses, ağ veya ölçüm/sensör verileri gibi farklı veri türleri mevcuttur. "Bir örneğin" bilgi içeriği her veri türü ve her uygulama alanı için aynı anlama gelmez; bu nedenle derin öğrenme modellerinin değerlendirmesi her zaman alana özgü biçimde yapılmalıdır.</a:t>
            </a:r>
            <a:endParaRPr b="0" i="0" sz="750" u="none" cap="none" strike="noStrike"/>
          </a:p>
        </p:txBody>
      </p:sp>
      <p:sp>
        <p:nvSpPr>
          <p:cNvPr id="251" name="Google Shape;251;p22"/>
          <p:cNvSpPr/>
          <p:nvPr/>
        </p:nvSpPr>
        <p:spPr>
          <a:xfrm>
            <a:off x="-1" y="4354872"/>
            <a:ext cx="7825500" cy="770400"/>
          </a:xfrm>
          <a:prstGeom prst="roundRect">
            <a:avLst>
              <a:gd fmla="val 1932" name="adj"/>
            </a:avLst>
          </a:prstGeom>
          <a:solidFill>
            <a:srgbClr val="1D1D1B"/>
          </a:solidFill>
          <a:ln cap="flat" cmpd="sng" w="15225">
            <a:solidFill>
              <a:srgbClr val="5555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2"/>
          <p:cNvSpPr/>
          <p:nvPr/>
        </p:nvSpPr>
        <p:spPr>
          <a:xfrm>
            <a:off x="15239" y="4370112"/>
            <a:ext cx="396900" cy="740100"/>
          </a:xfrm>
          <a:prstGeom prst="rect">
            <a:avLst/>
          </a:prstGeom>
          <a:solidFill>
            <a:srgbClr val="3C3C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2"/>
          <p:cNvSpPr/>
          <p:nvPr/>
        </p:nvSpPr>
        <p:spPr>
          <a:xfrm>
            <a:off x="461597" y="4469288"/>
            <a:ext cx="3323700" cy="1551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C9C9C0"/>
              </a:buClr>
              <a:buSzPts val="950"/>
              <a:buFont typeface="Tomorrow SemiBold"/>
              <a:buNone/>
            </a:pPr>
            <a:r>
              <a:rPr b="1" i="0" lang="tr" sz="950" u="none" cap="none" strike="noStrike">
                <a:solidFill>
                  <a:srgbClr val="C9C9C0"/>
                </a:solidFill>
                <a:latin typeface="Tomorrow SemiBold"/>
                <a:ea typeface="Tomorrow SemiBold"/>
                <a:cs typeface="Tomorrow SemiBold"/>
                <a:sym typeface="Tomorrow SemiBold"/>
              </a:rPr>
              <a:t>9.6. Daha İleri Düzey Modeller</a:t>
            </a:r>
            <a:endParaRPr b="0" i="0" sz="950" u="none" cap="none" strike="noStrike"/>
          </a:p>
        </p:txBody>
      </p:sp>
      <p:sp>
        <p:nvSpPr>
          <p:cNvPr id="254" name="Google Shape;254;p22"/>
          <p:cNvSpPr/>
          <p:nvPr/>
        </p:nvSpPr>
        <p:spPr>
          <a:xfrm>
            <a:off x="461604" y="4654076"/>
            <a:ext cx="7249500" cy="356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9C9C0"/>
              </a:buClr>
              <a:buSzPts val="750"/>
              <a:buFont typeface="Tomorrow"/>
              <a:buNone/>
            </a:pPr>
            <a:r>
              <a:rPr b="0" i="0" lang="tr" sz="750" u="none" cap="none" strike="noStrike">
                <a:solidFill>
                  <a:srgbClr val="C9C9C0"/>
                </a:solidFill>
                <a:latin typeface="Tomorrow"/>
                <a:ea typeface="Tomorrow"/>
                <a:cs typeface="Tomorrow"/>
                <a:sym typeface="Tomorrow"/>
              </a:rPr>
              <a:t>Temel mimarilerin dışında daha gelişmiş derin öğrenme ağı modelleri de mevcuttur: </a:t>
            </a:r>
            <a:r>
              <a:rPr b="1" i="0" lang="tr" sz="750" u="none" cap="none" strike="noStrike">
                <a:solidFill>
                  <a:srgbClr val="C9C9C0"/>
                </a:solidFill>
                <a:latin typeface="Tomorrow"/>
                <a:ea typeface="Tomorrow"/>
                <a:cs typeface="Tomorrow"/>
                <a:sym typeface="Tomorrow"/>
              </a:rPr>
              <a:t>Derin pekiştirmeli öğrenme</a:t>
            </a:r>
            <a:r>
              <a:rPr b="0" i="0" lang="tr" sz="750" u="none" cap="none" strike="noStrike">
                <a:solidFill>
                  <a:srgbClr val="C9C9C0"/>
                </a:solidFill>
                <a:latin typeface="Tomorrow"/>
                <a:ea typeface="Tomorrow"/>
                <a:cs typeface="Tomorrow"/>
                <a:sym typeface="Tomorrow"/>
              </a:rPr>
              <a:t> (robotik, oyunlar ve sağlık hizmetlerinde uygulamalar), </a:t>
            </a:r>
            <a:r>
              <a:rPr b="1" i="0" lang="tr" sz="750" u="none" cap="none" strike="noStrike">
                <a:solidFill>
                  <a:srgbClr val="C9C9C0"/>
                </a:solidFill>
                <a:latin typeface="Tomorrow"/>
                <a:ea typeface="Tomorrow"/>
                <a:cs typeface="Tomorrow"/>
                <a:sym typeface="Tomorrow"/>
              </a:rPr>
              <a:t>Graf CNN</a:t>
            </a:r>
            <a:r>
              <a:rPr b="0" i="0" lang="tr" sz="750" u="none" cap="none" strike="noStrike">
                <a:solidFill>
                  <a:srgbClr val="C9C9C0"/>
                </a:solidFill>
                <a:latin typeface="Tomorrow"/>
                <a:ea typeface="Tomorrow"/>
                <a:cs typeface="Tomorrow"/>
                <a:sym typeface="Tomorrow"/>
              </a:rPr>
              <a:t> (doğal dil işleme, öneri sistemleri, genomik ve kimyada kullanım) ve </a:t>
            </a:r>
            <a:r>
              <a:rPr b="1" i="0" lang="tr" sz="750" u="none" cap="none" strike="noStrike">
                <a:solidFill>
                  <a:srgbClr val="C9C9C0"/>
                </a:solidFill>
                <a:latin typeface="Tomorrow"/>
                <a:ea typeface="Tomorrow"/>
                <a:cs typeface="Tomorrow"/>
                <a:sym typeface="Tomorrow"/>
              </a:rPr>
              <a:t>Varyasyonel Otokodlayıcı (VAE)</a:t>
            </a:r>
            <a:r>
              <a:rPr b="0" i="0" lang="tr" sz="750" u="none" cap="none" strike="noStrike">
                <a:solidFill>
                  <a:srgbClr val="C9C9C0"/>
                </a:solidFill>
                <a:latin typeface="Tomorrow"/>
                <a:ea typeface="Tomorrow"/>
                <a:cs typeface="Tomorrow"/>
                <a:sym typeface="Tomorrow"/>
              </a:rPr>
              <a:t> (görüntü veya metin oluşturma gibi üretici model uygulamaları).</a:t>
            </a:r>
            <a:endParaRPr b="0" i="0" sz="75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